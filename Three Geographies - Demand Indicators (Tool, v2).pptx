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Indicators by Geography — Drive-Time 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demand, the charter–district enrollment shift, school-age population trend, and community profile around each anchor school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538728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3538728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61872"/>
            <a:ext cx="3538728" cy="822960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344168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Liberty City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0976" y="16459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 ·  District 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847088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Poinciana Park Elementary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· 5-MIN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9,068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2423160" y="2139696"/>
            <a:ext cx="1389888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23160" y="220370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 POP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423160" y="23317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-9.6%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423160" y="2624328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2023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40080" y="287121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DRIVE  ('21-22 vs '25-26)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85800" y="4242816"/>
            <a:ext cx="3081528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4148" y="3310128"/>
            <a:ext cx="384048" cy="932688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20" name="Text 17"/>
          <p:cNvSpPr/>
          <p:nvPr/>
        </p:nvSpPr>
        <p:spPr>
          <a:xfrm>
            <a:off x="1110996" y="31272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15,049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9284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632204" y="3342418"/>
            <a:ext cx="384048" cy="900398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23" name="Text 20"/>
          <p:cNvSpPr/>
          <p:nvPr/>
        </p:nvSpPr>
        <p:spPr>
          <a:xfrm>
            <a:off x="1559052" y="315953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14,528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577340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184148" y="442569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31036" y="297665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436876" y="4050068"/>
            <a:ext cx="384048" cy="192748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28" name="Text 25"/>
          <p:cNvSpPr/>
          <p:nvPr/>
        </p:nvSpPr>
        <p:spPr>
          <a:xfrm>
            <a:off x="2363724" y="38671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3,110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382012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884932" y="4011271"/>
            <a:ext cx="384048" cy="231545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31" name="Text 28"/>
          <p:cNvSpPr/>
          <p:nvPr/>
        </p:nvSpPr>
        <p:spPr>
          <a:xfrm>
            <a:off x="2811780" y="3828391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3,736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830068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436876" y="442569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683764" y="3645511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0080" y="470001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· 5-MIN DRIVE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12648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7" name="Text 34"/>
          <p:cNvSpPr/>
          <p:nvPr/>
        </p:nvSpPr>
        <p:spPr>
          <a:xfrm>
            <a:off x="612648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12648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734312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0" name="Text 37"/>
          <p:cNvSpPr/>
          <p:nvPr/>
        </p:nvSpPr>
        <p:spPr>
          <a:xfrm>
            <a:off x="1734312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48.5%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734312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855976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3" name="Text 40"/>
          <p:cNvSpPr/>
          <p:nvPr/>
        </p:nvSpPr>
        <p:spPr>
          <a:xfrm>
            <a:off x="2855976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2855976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&lt; $50k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311396" y="1170432"/>
            <a:ext cx="3538728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311396" y="1170432"/>
            <a:ext cx="3538728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47" name="Shape 44"/>
          <p:cNvSpPr/>
          <p:nvPr/>
        </p:nvSpPr>
        <p:spPr>
          <a:xfrm>
            <a:off x="4311396" y="1261872"/>
            <a:ext cx="3538728" cy="822960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399032"/>
            <a:ext cx="246888" cy="246888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4805172" y="1344168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4805172" y="16459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 ·  District 9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4494276" y="1847088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Air Base K-8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4494276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· 5-MIN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4475988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6,628</a:t>
            </a:r>
            <a:endParaRPr lang="en-US" sz="2900" dirty="0"/>
          </a:p>
        </p:txBody>
      </p:sp>
      <p:sp>
        <p:nvSpPr>
          <p:cNvPr id="54" name="Shape 50"/>
          <p:cNvSpPr/>
          <p:nvPr/>
        </p:nvSpPr>
        <p:spPr>
          <a:xfrm>
            <a:off x="6277356" y="2139696"/>
            <a:ext cx="1389888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1B7F3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277356" y="220370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 POP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6277356" y="23317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2000" dirty="0"/>
          </a:p>
        </p:txBody>
      </p:sp>
      <p:sp>
        <p:nvSpPr>
          <p:cNvPr id="57" name="Text 53"/>
          <p:cNvSpPr/>
          <p:nvPr/>
        </p:nvSpPr>
        <p:spPr>
          <a:xfrm>
            <a:off x="6277356" y="2624328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2023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4494276" y="287121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DRIVE  ('21-22 vs '25-26)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4539996" y="4242816"/>
            <a:ext cx="3081528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038344" y="3310128"/>
            <a:ext cx="384048" cy="932688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61" name="Text 57"/>
          <p:cNvSpPr/>
          <p:nvPr/>
        </p:nvSpPr>
        <p:spPr>
          <a:xfrm>
            <a:off x="4965192" y="31272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3,525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4983480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700" dirty="0"/>
          </a:p>
        </p:txBody>
      </p:sp>
      <p:sp>
        <p:nvSpPr>
          <p:cNvPr id="63" name="Shape 59"/>
          <p:cNvSpPr/>
          <p:nvPr/>
        </p:nvSpPr>
        <p:spPr>
          <a:xfrm>
            <a:off x="5486400" y="3361724"/>
            <a:ext cx="384048" cy="881092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64" name="Text 60"/>
          <p:cNvSpPr/>
          <p:nvPr/>
        </p:nvSpPr>
        <p:spPr>
          <a:xfrm>
            <a:off x="5413248" y="31788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3,330</a:t>
            </a:r>
            <a:endParaRPr lang="en-US" sz="750" dirty="0"/>
          </a:p>
        </p:txBody>
      </p:sp>
      <p:sp>
        <p:nvSpPr>
          <p:cNvPr id="65" name="Text 61"/>
          <p:cNvSpPr/>
          <p:nvPr/>
        </p:nvSpPr>
        <p:spPr>
          <a:xfrm>
            <a:off x="5431536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5038344" y="442569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5285232" y="29959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-5.5%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6291072" y="3673413"/>
            <a:ext cx="384048" cy="569403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69" name="Text 65"/>
          <p:cNvSpPr/>
          <p:nvPr/>
        </p:nvSpPr>
        <p:spPr>
          <a:xfrm>
            <a:off x="6217920" y="3490533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2,152</a:t>
            </a:r>
            <a:endParaRPr lang="en-US" sz="750" dirty="0"/>
          </a:p>
        </p:txBody>
      </p:sp>
      <p:sp>
        <p:nvSpPr>
          <p:cNvPr id="70" name="Text 66"/>
          <p:cNvSpPr/>
          <p:nvPr/>
        </p:nvSpPr>
        <p:spPr>
          <a:xfrm>
            <a:off x="6236208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700" dirty="0"/>
          </a:p>
        </p:txBody>
      </p:sp>
      <p:sp>
        <p:nvSpPr>
          <p:cNvPr id="71" name="Shape 67"/>
          <p:cNvSpPr/>
          <p:nvPr/>
        </p:nvSpPr>
        <p:spPr>
          <a:xfrm>
            <a:off x="6739128" y="3580806"/>
            <a:ext cx="384048" cy="66201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72" name="Text 68"/>
          <p:cNvSpPr/>
          <p:nvPr/>
        </p:nvSpPr>
        <p:spPr>
          <a:xfrm>
            <a:off x="6665976" y="339792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2,502</a:t>
            </a:r>
            <a:endParaRPr lang="en-US" sz="750" dirty="0"/>
          </a:p>
        </p:txBody>
      </p:sp>
      <p:sp>
        <p:nvSpPr>
          <p:cNvPr id="73" name="Text 69"/>
          <p:cNvSpPr/>
          <p:nvPr/>
        </p:nvSpPr>
        <p:spPr>
          <a:xfrm>
            <a:off x="6684264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6291072" y="442569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900" dirty="0"/>
          </a:p>
        </p:txBody>
      </p:sp>
      <p:sp>
        <p:nvSpPr>
          <p:cNvPr id="75" name="Text 71"/>
          <p:cNvSpPr/>
          <p:nvPr/>
        </p:nvSpPr>
        <p:spPr>
          <a:xfrm>
            <a:off x="6537960" y="321504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+16.3%</a:t>
            </a:r>
            <a:endParaRPr lang="en-US" sz="1050" dirty="0"/>
          </a:p>
        </p:txBody>
      </p:sp>
      <p:sp>
        <p:nvSpPr>
          <p:cNvPr id="76" name="Text 72"/>
          <p:cNvSpPr/>
          <p:nvPr/>
        </p:nvSpPr>
        <p:spPr>
          <a:xfrm>
            <a:off x="4494276" y="470001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· 5-MIN DRIVE</a:t>
            </a:r>
            <a:endParaRPr lang="en-US" sz="800" dirty="0"/>
          </a:p>
        </p:txBody>
      </p:sp>
      <p:sp>
        <p:nvSpPr>
          <p:cNvPr id="77" name="Shape 73"/>
          <p:cNvSpPr/>
          <p:nvPr/>
        </p:nvSpPr>
        <p:spPr>
          <a:xfrm>
            <a:off x="4466844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8" name="Text 74"/>
          <p:cNvSpPr/>
          <p:nvPr/>
        </p:nvSpPr>
        <p:spPr>
          <a:xfrm>
            <a:off x="4466844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500" dirty="0"/>
          </a:p>
        </p:txBody>
      </p:sp>
      <p:sp>
        <p:nvSpPr>
          <p:cNvPr id="79" name="Text 75"/>
          <p:cNvSpPr/>
          <p:nvPr/>
        </p:nvSpPr>
        <p:spPr>
          <a:xfrm>
            <a:off x="4466844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800" dirty="0"/>
          </a:p>
        </p:txBody>
      </p:sp>
      <p:sp>
        <p:nvSpPr>
          <p:cNvPr id="80" name="Shape 76"/>
          <p:cNvSpPr/>
          <p:nvPr/>
        </p:nvSpPr>
        <p:spPr>
          <a:xfrm>
            <a:off x="5588508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1" name="Text 77"/>
          <p:cNvSpPr/>
          <p:nvPr/>
        </p:nvSpPr>
        <p:spPr>
          <a:xfrm>
            <a:off x="5588508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66.3%</a:t>
            </a:r>
            <a:endParaRPr lang="en-US" sz="1500" dirty="0"/>
          </a:p>
        </p:txBody>
      </p:sp>
      <p:sp>
        <p:nvSpPr>
          <p:cNvPr id="82" name="Text 78"/>
          <p:cNvSpPr/>
          <p:nvPr/>
        </p:nvSpPr>
        <p:spPr>
          <a:xfrm>
            <a:off x="5588508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800" dirty="0"/>
          </a:p>
        </p:txBody>
      </p:sp>
      <p:sp>
        <p:nvSpPr>
          <p:cNvPr id="83" name="Shape 79"/>
          <p:cNvSpPr/>
          <p:nvPr/>
        </p:nvSpPr>
        <p:spPr>
          <a:xfrm>
            <a:off x="6710172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4" name="Text 80"/>
          <p:cNvSpPr/>
          <p:nvPr/>
        </p:nvSpPr>
        <p:spPr>
          <a:xfrm>
            <a:off x="6710172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1500" dirty="0"/>
          </a:p>
        </p:txBody>
      </p:sp>
      <p:sp>
        <p:nvSpPr>
          <p:cNvPr id="85" name="Text 81"/>
          <p:cNvSpPr/>
          <p:nvPr/>
        </p:nvSpPr>
        <p:spPr>
          <a:xfrm>
            <a:off x="6710172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&lt; $50k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8165592" y="1170432"/>
            <a:ext cx="3538728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7" name="Shape 83"/>
          <p:cNvSpPr/>
          <p:nvPr/>
        </p:nvSpPr>
        <p:spPr>
          <a:xfrm>
            <a:off x="8165592" y="1170432"/>
            <a:ext cx="3538728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88" name="Shape 84"/>
          <p:cNvSpPr/>
          <p:nvPr/>
        </p:nvSpPr>
        <p:spPr>
          <a:xfrm>
            <a:off x="8165592" y="1261872"/>
            <a:ext cx="3538728" cy="822960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8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399032"/>
            <a:ext cx="246888" cy="246888"/>
          </a:xfrm>
          <a:prstGeom prst="rect">
            <a:avLst/>
          </a:prstGeom>
        </p:spPr>
      </p:pic>
      <p:sp>
        <p:nvSpPr>
          <p:cNvPr id="90" name="Text 85"/>
          <p:cNvSpPr/>
          <p:nvPr/>
        </p:nvSpPr>
        <p:spPr>
          <a:xfrm>
            <a:off x="8659368" y="1344168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600" dirty="0"/>
          </a:p>
        </p:txBody>
      </p:sp>
      <p:sp>
        <p:nvSpPr>
          <p:cNvPr id="91" name="Text 86"/>
          <p:cNvSpPr/>
          <p:nvPr/>
        </p:nvSpPr>
        <p:spPr>
          <a:xfrm>
            <a:off x="8659368" y="16459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 ·  District 5</a:t>
            </a:r>
            <a:endParaRPr lang="en-US" sz="1000" dirty="0"/>
          </a:p>
        </p:txBody>
      </p:sp>
      <p:sp>
        <p:nvSpPr>
          <p:cNvPr id="92" name="Text 87"/>
          <p:cNvSpPr/>
          <p:nvPr/>
        </p:nvSpPr>
        <p:spPr>
          <a:xfrm>
            <a:off x="8348472" y="1847088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William Dandy Middle</a:t>
            </a:r>
            <a:endParaRPr lang="en-US" sz="950" dirty="0"/>
          </a:p>
        </p:txBody>
      </p:sp>
      <p:sp>
        <p:nvSpPr>
          <p:cNvPr id="93" name="Text 88"/>
          <p:cNvSpPr/>
          <p:nvPr/>
        </p:nvSpPr>
        <p:spPr>
          <a:xfrm>
            <a:off x="8348472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· 5-MIN</a:t>
            </a:r>
            <a:endParaRPr lang="en-US" sz="800" dirty="0"/>
          </a:p>
        </p:txBody>
      </p:sp>
      <p:sp>
        <p:nvSpPr>
          <p:cNvPr id="94" name="Text 89"/>
          <p:cNvSpPr/>
          <p:nvPr/>
        </p:nvSpPr>
        <p:spPr>
          <a:xfrm>
            <a:off x="8330184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9,627</a:t>
            </a:r>
            <a:endParaRPr lang="en-US" sz="2900" dirty="0"/>
          </a:p>
        </p:txBody>
      </p:sp>
      <p:sp>
        <p:nvSpPr>
          <p:cNvPr id="95" name="Shape 90"/>
          <p:cNvSpPr/>
          <p:nvPr/>
        </p:nvSpPr>
        <p:spPr>
          <a:xfrm>
            <a:off x="10131552" y="2139696"/>
            <a:ext cx="1389888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1B7F3B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10131552" y="220370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 POP</a:t>
            </a:r>
            <a:endParaRPr lang="en-US" sz="750" dirty="0"/>
          </a:p>
        </p:txBody>
      </p:sp>
      <p:sp>
        <p:nvSpPr>
          <p:cNvPr id="97" name="Text 92"/>
          <p:cNvSpPr/>
          <p:nvPr/>
        </p:nvSpPr>
        <p:spPr>
          <a:xfrm>
            <a:off x="10131552" y="23317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2000" dirty="0"/>
          </a:p>
        </p:txBody>
      </p:sp>
      <p:sp>
        <p:nvSpPr>
          <p:cNvPr id="98" name="Text 93"/>
          <p:cNvSpPr/>
          <p:nvPr/>
        </p:nvSpPr>
        <p:spPr>
          <a:xfrm>
            <a:off x="10131552" y="2624328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2023</a:t>
            </a:r>
            <a:endParaRPr lang="en-US" sz="750" dirty="0"/>
          </a:p>
        </p:txBody>
      </p:sp>
      <p:sp>
        <p:nvSpPr>
          <p:cNvPr id="99" name="Text 94"/>
          <p:cNvSpPr/>
          <p:nvPr/>
        </p:nvSpPr>
        <p:spPr>
          <a:xfrm>
            <a:off x="8348472" y="287121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DRIVE  ('21-22 vs '25-26)</a:t>
            </a:r>
            <a:endParaRPr lang="en-US" sz="800" dirty="0"/>
          </a:p>
        </p:txBody>
      </p:sp>
      <p:sp>
        <p:nvSpPr>
          <p:cNvPr id="100" name="Shape 95"/>
          <p:cNvSpPr/>
          <p:nvPr/>
        </p:nvSpPr>
        <p:spPr>
          <a:xfrm>
            <a:off x="8394192" y="4242816"/>
            <a:ext cx="3081528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892540" y="3310128"/>
            <a:ext cx="384048" cy="932688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102" name="Text 97"/>
          <p:cNvSpPr/>
          <p:nvPr/>
        </p:nvSpPr>
        <p:spPr>
          <a:xfrm>
            <a:off x="8819388" y="31272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8,391</a:t>
            </a:r>
            <a:endParaRPr lang="en-US" sz="750" dirty="0"/>
          </a:p>
        </p:txBody>
      </p:sp>
      <p:sp>
        <p:nvSpPr>
          <p:cNvPr id="103" name="Text 98"/>
          <p:cNvSpPr/>
          <p:nvPr/>
        </p:nvSpPr>
        <p:spPr>
          <a:xfrm>
            <a:off x="8837676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700" dirty="0"/>
          </a:p>
        </p:txBody>
      </p:sp>
      <p:sp>
        <p:nvSpPr>
          <p:cNvPr id="104" name="Shape 99"/>
          <p:cNvSpPr/>
          <p:nvPr/>
        </p:nvSpPr>
        <p:spPr>
          <a:xfrm>
            <a:off x="9340596" y="3346586"/>
            <a:ext cx="384048" cy="896230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105" name="Text 100"/>
          <p:cNvSpPr/>
          <p:nvPr/>
        </p:nvSpPr>
        <p:spPr>
          <a:xfrm>
            <a:off x="9267444" y="31637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8,063</a:t>
            </a:r>
            <a:endParaRPr lang="en-US" sz="750" dirty="0"/>
          </a:p>
        </p:txBody>
      </p:sp>
      <p:sp>
        <p:nvSpPr>
          <p:cNvPr id="106" name="Text 101"/>
          <p:cNvSpPr/>
          <p:nvPr/>
        </p:nvSpPr>
        <p:spPr>
          <a:xfrm>
            <a:off x="9285732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700" dirty="0"/>
          </a:p>
        </p:txBody>
      </p:sp>
      <p:sp>
        <p:nvSpPr>
          <p:cNvPr id="107" name="Text 102"/>
          <p:cNvSpPr/>
          <p:nvPr/>
        </p:nvSpPr>
        <p:spPr>
          <a:xfrm>
            <a:off x="8892540" y="442569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00" dirty="0"/>
          </a:p>
        </p:txBody>
      </p:sp>
      <p:sp>
        <p:nvSpPr>
          <p:cNvPr id="108" name="Text 103"/>
          <p:cNvSpPr/>
          <p:nvPr/>
        </p:nvSpPr>
        <p:spPr>
          <a:xfrm>
            <a:off x="9139428" y="298082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1050" dirty="0"/>
          </a:p>
        </p:txBody>
      </p:sp>
      <p:sp>
        <p:nvSpPr>
          <p:cNvPr id="109" name="Shape 104"/>
          <p:cNvSpPr/>
          <p:nvPr/>
        </p:nvSpPr>
        <p:spPr>
          <a:xfrm>
            <a:off x="10145268" y="4035960"/>
            <a:ext cx="384048" cy="206856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110" name="Text 105"/>
          <p:cNvSpPr/>
          <p:nvPr/>
        </p:nvSpPr>
        <p:spPr>
          <a:xfrm>
            <a:off x="10072116" y="38530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1,861</a:t>
            </a:r>
            <a:endParaRPr lang="en-US" sz="750" dirty="0"/>
          </a:p>
        </p:txBody>
      </p:sp>
      <p:sp>
        <p:nvSpPr>
          <p:cNvPr id="111" name="Text 106"/>
          <p:cNvSpPr/>
          <p:nvPr/>
        </p:nvSpPr>
        <p:spPr>
          <a:xfrm>
            <a:off x="10090404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10593324" y="4016952"/>
            <a:ext cx="384048" cy="225864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113" name="Text 108"/>
          <p:cNvSpPr/>
          <p:nvPr/>
        </p:nvSpPr>
        <p:spPr>
          <a:xfrm>
            <a:off x="10520172" y="38340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2,032</a:t>
            </a:r>
            <a:endParaRPr lang="en-US" sz="750" dirty="0"/>
          </a:p>
        </p:txBody>
      </p:sp>
      <p:sp>
        <p:nvSpPr>
          <p:cNvPr id="114" name="Text 109"/>
          <p:cNvSpPr/>
          <p:nvPr/>
        </p:nvSpPr>
        <p:spPr>
          <a:xfrm>
            <a:off x="10538460" y="42702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10145268" y="442569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900" dirty="0"/>
          </a:p>
        </p:txBody>
      </p:sp>
      <p:sp>
        <p:nvSpPr>
          <p:cNvPr id="116" name="Text 111"/>
          <p:cNvSpPr/>
          <p:nvPr/>
        </p:nvSpPr>
        <p:spPr>
          <a:xfrm>
            <a:off x="10392156" y="365119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+9.2%</a:t>
            </a:r>
            <a:endParaRPr lang="en-US" sz="1050" dirty="0"/>
          </a:p>
        </p:txBody>
      </p:sp>
      <p:sp>
        <p:nvSpPr>
          <p:cNvPr id="117" name="Text 112"/>
          <p:cNvSpPr/>
          <p:nvPr/>
        </p:nvSpPr>
        <p:spPr>
          <a:xfrm>
            <a:off x="8348472" y="4700016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· 5-MIN DRIVE</a:t>
            </a:r>
            <a:endParaRPr lang="en-US" sz="800" dirty="0"/>
          </a:p>
        </p:txBody>
      </p:sp>
      <p:sp>
        <p:nvSpPr>
          <p:cNvPr id="118" name="Shape 113"/>
          <p:cNvSpPr/>
          <p:nvPr/>
        </p:nvSpPr>
        <p:spPr>
          <a:xfrm>
            <a:off x="8321040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19" name="Text 114"/>
          <p:cNvSpPr/>
          <p:nvPr/>
        </p:nvSpPr>
        <p:spPr>
          <a:xfrm>
            <a:off x="8321040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71.7%</a:t>
            </a:r>
            <a:endParaRPr lang="en-US" sz="1500" dirty="0"/>
          </a:p>
        </p:txBody>
      </p:sp>
      <p:sp>
        <p:nvSpPr>
          <p:cNvPr id="120" name="Text 115"/>
          <p:cNvSpPr/>
          <p:nvPr/>
        </p:nvSpPr>
        <p:spPr>
          <a:xfrm>
            <a:off x="8321040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800" dirty="0"/>
          </a:p>
        </p:txBody>
      </p:sp>
      <p:sp>
        <p:nvSpPr>
          <p:cNvPr id="121" name="Shape 116"/>
          <p:cNvSpPr/>
          <p:nvPr/>
        </p:nvSpPr>
        <p:spPr>
          <a:xfrm>
            <a:off x="9442704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2" name="Text 117"/>
          <p:cNvSpPr/>
          <p:nvPr/>
        </p:nvSpPr>
        <p:spPr>
          <a:xfrm>
            <a:off x="9442704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500" dirty="0"/>
          </a:p>
        </p:txBody>
      </p:sp>
      <p:sp>
        <p:nvSpPr>
          <p:cNvPr id="123" name="Text 118"/>
          <p:cNvSpPr/>
          <p:nvPr/>
        </p:nvSpPr>
        <p:spPr>
          <a:xfrm>
            <a:off x="9442704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800" dirty="0"/>
          </a:p>
        </p:txBody>
      </p:sp>
      <p:sp>
        <p:nvSpPr>
          <p:cNvPr id="124" name="Shape 119"/>
          <p:cNvSpPr/>
          <p:nvPr/>
        </p:nvSpPr>
        <p:spPr>
          <a:xfrm>
            <a:off x="10564368" y="4901184"/>
            <a:ext cx="984504" cy="566928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5" name="Text 120"/>
          <p:cNvSpPr/>
          <p:nvPr/>
        </p:nvSpPr>
        <p:spPr>
          <a:xfrm>
            <a:off x="10564368" y="4965192"/>
            <a:ext cx="984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500" dirty="0"/>
          </a:p>
        </p:txBody>
      </p:sp>
      <p:sp>
        <p:nvSpPr>
          <p:cNvPr id="126" name="Text 121"/>
          <p:cNvSpPr/>
          <p:nvPr/>
        </p:nvSpPr>
        <p:spPr>
          <a:xfrm>
            <a:off x="10564368" y="5266944"/>
            <a:ext cx="984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&lt; $50k</a:t>
            </a:r>
            <a:endParaRPr lang="en-US" sz="800" dirty="0"/>
          </a:p>
        </p:txBody>
      </p:sp>
      <p:sp>
        <p:nvSpPr>
          <p:cNvPr id="127" name="Text 122"/>
          <p:cNvSpPr/>
          <p:nvPr/>
        </p:nvSpPr>
        <p:spPr>
          <a:xfrm>
            <a:off x="457200" y="638251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KIPP Demographics tool — drive-time rings (5-min ≈ 1.83 mi, 10-min ≈ 3.67 mi radius approximations). Enrollment = K-8 students at currently active charter &amp; district schools within the 10-min ring (FL DOE; 2020-21 not in series, so endpoints are '21-22 and '25-26). Age 5-17 = ACS 5-yr estimates summed over the census tracts in the 5-min ring; 2021 vs 2023 vintages (both 2020 tract boundaries) for a like-for-like comparison. K-8 / age figures are ACS age-band estimates.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Indicators by Geography</dc:title>
  <dc:subject>PptxGenJS Presentation</dc:subject>
  <dc:creator>KTAF</dc:creator>
  <cp:lastModifiedBy>KTAF</cp:lastModifiedBy>
  <cp:revision>1</cp:revision>
  <dcterms:created xsi:type="dcterms:W3CDTF">2026-06-16T03:32:09Z</dcterms:created>
  <dcterms:modified xsi:type="dcterms:W3CDTF">2026-06-16T03:32:09Z</dcterms:modified>
</cp:coreProperties>
</file>