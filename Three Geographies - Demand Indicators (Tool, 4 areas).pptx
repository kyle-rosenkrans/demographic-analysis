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1945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Indicators by Geography — Drive-Time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demand, the charter–district enrollment shift, school-age population trend, and community profile around each anchor school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2606040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2588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Liberty City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· District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Poinciana Park Elementary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206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C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1206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377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9,068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78308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8308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78308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8308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1206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54864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3252" y="3200400"/>
            <a:ext cx="292608" cy="914400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21" name="Text 18"/>
          <p:cNvSpPr/>
          <p:nvPr/>
        </p:nvSpPr>
        <p:spPr>
          <a:xfrm>
            <a:off x="781812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15,049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81838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23" name="Shape 20"/>
          <p:cNvSpPr/>
          <p:nvPr/>
        </p:nvSpPr>
        <p:spPr>
          <a:xfrm>
            <a:off x="1220724" y="3232057"/>
            <a:ext cx="292608" cy="882743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24" name="Text 21"/>
          <p:cNvSpPr/>
          <p:nvPr/>
        </p:nvSpPr>
        <p:spPr>
          <a:xfrm>
            <a:off x="1129284" y="3076609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14,528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16586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87325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64692" y="2902873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824228" y="3925832"/>
            <a:ext cx="292608" cy="188968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29" name="Text 26"/>
          <p:cNvSpPr/>
          <p:nvPr/>
        </p:nvSpPr>
        <p:spPr>
          <a:xfrm>
            <a:off x="1732788" y="377038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3,110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176936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31" name="Shape 28"/>
          <p:cNvSpPr/>
          <p:nvPr/>
        </p:nvSpPr>
        <p:spPr>
          <a:xfrm>
            <a:off x="2171700" y="3887795"/>
            <a:ext cx="292608" cy="227005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32" name="Text 29"/>
          <p:cNvSpPr/>
          <p:nvPr/>
        </p:nvSpPr>
        <p:spPr>
          <a:xfrm>
            <a:off x="2080260" y="373234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3,736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211683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34" name="Text 31"/>
          <p:cNvSpPr/>
          <p:nvPr/>
        </p:nvSpPr>
        <p:spPr>
          <a:xfrm>
            <a:off x="182422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915668" y="3558611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+20.1%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1206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92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0292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31064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1" name="Text 38"/>
          <p:cNvSpPr/>
          <p:nvPr/>
        </p:nvSpPr>
        <p:spPr>
          <a:xfrm>
            <a:off x="131064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48.5%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31064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211836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4" name="Text 41"/>
          <p:cNvSpPr/>
          <p:nvPr/>
        </p:nvSpPr>
        <p:spPr>
          <a:xfrm>
            <a:off x="211836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211836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324612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3246120" y="1115568"/>
            <a:ext cx="2606040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48" name="Shape 45"/>
          <p:cNvSpPr/>
          <p:nvPr/>
        </p:nvSpPr>
        <p:spPr>
          <a:xfrm>
            <a:off x="324612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325880"/>
            <a:ext cx="219456" cy="219456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365760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Homestead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365760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· District 9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339242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Base K-8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339242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C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339242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337413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6,628</a:t>
            </a:r>
            <a:endParaRPr lang="en-US" sz="2400" dirty="0"/>
          </a:p>
        </p:txBody>
      </p:sp>
      <p:sp>
        <p:nvSpPr>
          <p:cNvPr id="56" name="Shape 52"/>
          <p:cNvSpPr/>
          <p:nvPr/>
        </p:nvSpPr>
        <p:spPr>
          <a:xfrm>
            <a:off x="466344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1B7F3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66344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466344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+5.6%</a:t>
            </a:r>
            <a:endParaRPr lang="en-US" sz="1800" dirty="0"/>
          </a:p>
        </p:txBody>
      </p:sp>
      <p:sp>
        <p:nvSpPr>
          <p:cNvPr id="59" name="Text 55"/>
          <p:cNvSpPr/>
          <p:nvPr/>
        </p:nvSpPr>
        <p:spPr>
          <a:xfrm>
            <a:off x="466344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39242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61" name="Shape 57"/>
          <p:cNvSpPr/>
          <p:nvPr/>
        </p:nvSpPr>
        <p:spPr>
          <a:xfrm>
            <a:off x="342900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3753612" y="3200400"/>
            <a:ext cx="292608" cy="914400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63" name="Text 59"/>
          <p:cNvSpPr/>
          <p:nvPr/>
        </p:nvSpPr>
        <p:spPr>
          <a:xfrm>
            <a:off x="3662172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3,525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369874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65" name="Shape 61"/>
          <p:cNvSpPr/>
          <p:nvPr/>
        </p:nvSpPr>
        <p:spPr>
          <a:xfrm>
            <a:off x="4101084" y="3250984"/>
            <a:ext cx="292608" cy="863816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66" name="Text 62"/>
          <p:cNvSpPr/>
          <p:nvPr/>
        </p:nvSpPr>
        <p:spPr>
          <a:xfrm>
            <a:off x="4009644" y="309553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3,330</a:t>
            </a:r>
            <a:endParaRPr lang="en-US" sz="650" dirty="0"/>
          </a:p>
        </p:txBody>
      </p:sp>
      <p:sp>
        <p:nvSpPr>
          <p:cNvPr id="67" name="Text 63"/>
          <p:cNvSpPr/>
          <p:nvPr/>
        </p:nvSpPr>
        <p:spPr>
          <a:xfrm>
            <a:off x="404622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68" name="Text 64"/>
          <p:cNvSpPr/>
          <p:nvPr/>
        </p:nvSpPr>
        <p:spPr>
          <a:xfrm>
            <a:off x="375361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3845052" y="29218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-5.5%</a:t>
            </a:r>
            <a:endParaRPr lang="en-US" sz="950" dirty="0"/>
          </a:p>
        </p:txBody>
      </p:sp>
      <p:sp>
        <p:nvSpPr>
          <p:cNvPr id="70" name="Shape 66"/>
          <p:cNvSpPr/>
          <p:nvPr/>
        </p:nvSpPr>
        <p:spPr>
          <a:xfrm>
            <a:off x="4704588" y="3556562"/>
            <a:ext cx="292608" cy="558238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71" name="Text 67"/>
          <p:cNvSpPr/>
          <p:nvPr/>
        </p:nvSpPr>
        <p:spPr>
          <a:xfrm>
            <a:off x="4613148" y="340111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2,152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464972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73" name="Shape 69"/>
          <p:cNvSpPr/>
          <p:nvPr/>
        </p:nvSpPr>
        <p:spPr>
          <a:xfrm>
            <a:off x="5052060" y="3465771"/>
            <a:ext cx="292608" cy="649029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74" name="Text 70"/>
          <p:cNvSpPr/>
          <p:nvPr/>
        </p:nvSpPr>
        <p:spPr>
          <a:xfrm>
            <a:off x="4960620" y="3310323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2,502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499719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70458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4796028" y="3136587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+16.3%</a:t>
            </a:r>
            <a:endParaRPr lang="en-US" sz="950" dirty="0"/>
          </a:p>
        </p:txBody>
      </p:sp>
      <p:sp>
        <p:nvSpPr>
          <p:cNvPr id="78" name="Text 74"/>
          <p:cNvSpPr/>
          <p:nvPr/>
        </p:nvSpPr>
        <p:spPr>
          <a:xfrm>
            <a:off x="339242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338328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0" name="Text 76"/>
          <p:cNvSpPr/>
          <p:nvPr/>
        </p:nvSpPr>
        <p:spPr>
          <a:xfrm>
            <a:off x="338328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300" dirty="0"/>
          </a:p>
        </p:txBody>
      </p:sp>
      <p:sp>
        <p:nvSpPr>
          <p:cNvPr id="81" name="Text 77"/>
          <p:cNvSpPr/>
          <p:nvPr/>
        </p:nvSpPr>
        <p:spPr>
          <a:xfrm>
            <a:off x="338328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82" name="Shape 78"/>
          <p:cNvSpPr/>
          <p:nvPr/>
        </p:nvSpPr>
        <p:spPr>
          <a:xfrm>
            <a:off x="419100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3" name="Text 79"/>
          <p:cNvSpPr/>
          <p:nvPr/>
        </p:nvSpPr>
        <p:spPr>
          <a:xfrm>
            <a:off x="419100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66.3%</a:t>
            </a:r>
            <a:endParaRPr lang="en-US" sz="1300" dirty="0"/>
          </a:p>
        </p:txBody>
      </p:sp>
      <p:sp>
        <p:nvSpPr>
          <p:cNvPr id="84" name="Text 80"/>
          <p:cNvSpPr/>
          <p:nvPr/>
        </p:nvSpPr>
        <p:spPr>
          <a:xfrm>
            <a:off x="419100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85" name="Shape 81"/>
          <p:cNvSpPr/>
          <p:nvPr/>
        </p:nvSpPr>
        <p:spPr>
          <a:xfrm>
            <a:off x="499872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6" name="Text 82"/>
          <p:cNvSpPr/>
          <p:nvPr/>
        </p:nvSpPr>
        <p:spPr>
          <a:xfrm>
            <a:off x="499872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37.1%</a:t>
            </a:r>
            <a:endParaRPr lang="en-US" sz="1300" dirty="0"/>
          </a:p>
        </p:txBody>
      </p:sp>
      <p:sp>
        <p:nvSpPr>
          <p:cNvPr id="87" name="Text 83"/>
          <p:cNvSpPr/>
          <p:nvPr/>
        </p:nvSpPr>
        <p:spPr>
          <a:xfrm>
            <a:off x="499872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612648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89" name="Shape 85"/>
          <p:cNvSpPr/>
          <p:nvPr/>
        </p:nvSpPr>
        <p:spPr>
          <a:xfrm>
            <a:off x="6126480" y="1115568"/>
            <a:ext cx="2606040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90" name="Shape 86"/>
          <p:cNvSpPr/>
          <p:nvPr/>
        </p:nvSpPr>
        <p:spPr>
          <a:xfrm>
            <a:off x="612648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9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325880"/>
            <a:ext cx="219456" cy="219456"/>
          </a:xfrm>
          <a:prstGeom prst="rect">
            <a:avLst/>
          </a:prstGeom>
        </p:spPr>
      </p:pic>
      <p:sp>
        <p:nvSpPr>
          <p:cNvPr id="92" name="Text 87"/>
          <p:cNvSpPr/>
          <p:nvPr/>
        </p:nvSpPr>
        <p:spPr>
          <a:xfrm>
            <a:off x="653796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Lauderhill</a:t>
            </a:r>
            <a:endParaRPr lang="en-US" sz="1400" dirty="0"/>
          </a:p>
        </p:txBody>
      </p:sp>
      <p:sp>
        <p:nvSpPr>
          <p:cNvPr id="93" name="Text 88"/>
          <p:cNvSpPr/>
          <p:nvPr/>
        </p:nvSpPr>
        <p:spPr>
          <a:xfrm>
            <a:off x="653796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· District 5</a:t>
            </a:r>
            <a:endParaRPr lang="en-US" sz="900" dirty="0"/>
          </a:p>
        </p:txBody>
      </p:sp>
      <p:sp>
        <p:nvSpPr>
          <p:cNvPr id="94" name="Text 89"/>
          <p:cNvSpPr/>
          <p:nvPr/>
        </p:nvSpPr>
        <p:spPr>
          <a:xfrm>
            <a:off x="627278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Dandy Middle</a:t>
            </a:r>
            <a:endParaRPr lang="en-US" sz="850" dirty="0"/>
          </a:p>
        </p:txBody>
      </p:sp>
      <p:sp>
        <p:nvSpPr>
          <p:cNvPr id="95" name="Text 90"/>
          <p:cNvSpPr/>
          <p:nvPr/>
        </p:nvSpPr>
        <p:spPr>
          <a:xfrm>
            <a:off x="627278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C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</a:t>
            </a:r>
            <a:endParaRPr lang="en-US" sz="700" dirty="0"/>
          </a:p>
        </p:txBody>
      </p:sp>
      <p:sp>
        <p:nvSpPr>
          <p:cNvPr id="96" name="Text 91"/>
          <p:cNvSpPr/>
          <p:nvPr/>
        </p:nvSpPr>
        <p:spPr>
          <a:xfrm>
            <a:off x="627278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97" name="Text 92"/>
          <p:cNvSpPr/>
          <p:nvPr/>
        </p:nvSpPr>
        <p:spPr>
          <a:xfrm>
            <a:off x="625449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9,627</a:t>
            </a:r>
            <a:endParaRPr lang="en-US" sz="2400" dirty="0"/>
          </a:p>
        </p:txBody>
      </p:sp>
      <p:sp>
        <p:nvSpPr>
          <p:cNvPr id="98" name="Shape 93"/>
          <p:cNvSpPr/>
          <p:nvPr/>
        </p:nvSpPr>
        <p:spPr>
          <a:xfrm>
            <a:off x="754380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1B7F3B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754380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100" name="Text 95"/>
          <p:cNvSpPr/>
          <p:nvPr/>
        </p:nvSpPr>
        <p:spPr>
          <a:xfrm>
            <a:off x="754380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800" dirty="0"/>
          </a:p>
        </p:txBody>
      </p:sp>
      <p:sp>
        <p:nvSpPr>
          <p:cNvPr id="101" name="Text 96"/>
          <p:cNvSpPr/>
          <p:nvPr/>
        </p:nvSpPr>
        <p:spPr>
          <a:xfrm>
            <a:off x="754380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627278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103" name="Shape 98"/>
          <p:cNvSpPr/>
          <p:nvPr/>
        </p:nvSpPr>
        <p:spPr>
          <a:xfrm>
            <a:off x="630936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6633972" y="3200400"/>
            <a:ext cx="292608" cy="914400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105" name="Text 100"/>
          <p:cNvSpPr/>
          <p:nvPr/>
        </p:nvSpPr>
        <p:spPr>
          <a:xfrm>
            <a:off x="6542532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8,391</a:t>
            </a:r>
            <a:endParaRPr lang="en-US" sz="650" dirty="0"/>
          </a:p>
        </p:txBody>
      </p:sp>
      <p:sp>
        <p:nvSpPr>
          <p:cNvPr id="106" name="Text 101"/>
          <p:cNvSpPr/>
          <p:nvPr/>
        </p:nvSpPr>
        <p:spPr>
          <a:xfrm>
            <a:off x="657910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07" name="Shape 102"/>
          <p:cNvSpPr/>
          <p:nvPr/>
        </p:nvSpPr>
        <p:spPr>
          <a:xfrm>
            <a:off x="6981444" y="3236143"/>
            <a:ext cx="292608" cy="878657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108" name="Text 103"/>
          <p:cNvSpPr/>
          <p:nvPr/>
        </p:nvSpPr>
        <p:spPr>
          <a:xfrm>
            <a:off x="6890004" y="3080695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8,063</a:t>
            </a:r>
            <a:endParaRPr lang="en-US" sz="650" dirty="0"/>
          </a:p>
        </p:txBody>
      </p:sp>
      <p:sp>
        <p:nvSpPr>
          <p:cNvPr id="109" name="Text 104"/>
          <p:cNvSpPr/>
          <p:nvPr/>
        </p:nvSpPr>
        <p:spPr>
          <a:xfrm>
            <a:off x="692658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10" name="Text 105"/>
          <p:cNvSpPr/>
          <p:nvPr/>
        </p:nvSpPr>
        <p:spPr>
          <a:xfrm>
            <a:off x="663397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111" name="Text 106"/>
          <p:cNvSpPr/>
          <p:nvPr/>
        </p:nvSpPr>
        <p:spPr>
          <a:xfrm>
            <a:off x="6725412" y="2906959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-3.9%</a:t>
            </a:r>
            <a:endParaRPr lang="en-US" sz="950" dirty="0"/>
          </a:p>
        </p:txBody>
      </p:sp>
      <p:sp>
        <p:nvSpPr>
          <p:cNvPr id="112" name="Shape 107"/>
          <p:cNvSpPr/>
          <p:nvPr/>
        </p:nvSpPr>
        <p:spPr>
          <a:xfrm>
            <a:off x="7584948" y="3912000"/>
            <a:ext cx="292608" cy="202800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113" name="Text 108"/>
          <p:cNvSpPr/>
          <p:nvPr/>
        </p:nvSpPr>
        <p:spPr>
          <a:xfrm>
            <a:off x="7493508" y="37565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1,861</a:t>
            </a:r>
            <a:endParaRPr lang="en-US" sz="650" dirty="0"/>
          </a:p>
        </p:txBody>
      </p:sp>
      <p:sp>
        <p:nvSpPr>
          <p:cNvPr id="114" name="Text 109"/>
          <p:cNvSpPr/>
          <p:nvPr/>
        </p:nvSpPr>
        <p:spPr>
          <a:xfrm>
            <a:off x="753008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15" name="Shape 110"/>
          <p:cNvSpPr/>
          <p:nvPr/>
        </p:nvSpPr>
        <p:spPr>
          <a:xfrm>
            <a:off x="7932420" y="3893365"/>
            <a:ext cx="292608" cy="221435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116" name="Text 111"/>
          <p:cNvSpPr/>
          <p:nvPr/>
        </p:nvSpPr>
        <p:spPr>
          <a:xfrm>
            <a:off x="7840980" y="373791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2,032</a:t>
            </a:r>
            <a:endParaRPr lang="en-US" sz="650" dirty="0"/>
          </a:p>
        </p:txBody>
      </p:sp>
      <p:sp>
        <p:nvSpPr>
          <p:cNvPr id="117" name="Text 112"/>
          <p:cNvSpPr/>
          <p:nvPr/>
        </p:nvSpPr>
        <p:spPr>
          <a:xfrm>
            <a:off x="787755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18" name="Text 113"/>
          <p:cNvSpPr/>
          <p:nvPr/>
        </p:nvSpPr>
        <p:spPr>
          <a:xfrm>
            <a:off x="758494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119" name="Text 114"/>
          <p:cNvSpPr/>
          <p:nvPr/>
        </p:nvSpPr>
        <p:spPr>
          <a:xfrm>
            <a:off x="7676388" y="3564181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+9.2%</a:t>
            </a:r>
            <a:endParaRPr lang="en-US" sz="950" dirty="0"/>
          </a:p>
        </p:txBody>
      </p:sp>
      <p:sp>
        <p:nvSpPr>
          <p:cNvPr id="120" name="Text 115"/>
          <p:cNvSpPr/>
          <p:nvPr/>
        </p:nvSpPr>
        <p:spPr>
          <a:xfrm>
            <a:off x="627278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121" name="Shape 116"/>
          <p:cNvSpPr/>
          <p:nvPr/>
        </p:nvSpPr>
        <p:spPr>
          <a:xfrm>
            <a:off x="626364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2" name="Text 117"/>
          <p:cNvSpPr/>
          <p:nvPr/>
        </p:nvSpPr>
        <p:spPr>
          <a:xfrm>
            <a:off x="626364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71.7%</a:t>
            </a:r>
            <a:endParaRPr lang="en-US" sz="1300" dirty="0"/>
          </a:p>
        </p:txBody>
      </p:sp>
      <p:sp>
        <p:nvSpPr>
          <p:cNvPr id="123" name="Text 118"/>
          <p:cNvSpPr/>
          <p:nvPr/>
        </p:nvSpPr>
        <p:spPr>
          <a:xfrm>
            <a:off x="626364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124" name="Shape 119"/>
          <p:cNvSpPr/>
          <p:nvPr/>
        </p:nvSpPr>
        <p:spPr>
          <a:xfrm>
            <a:off x="707136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5" name="Text 120"/>
          <p:cNvSpPr/>
          <p:nvPr/>
        </p:nvSpPr>
        <p:spPr>
          <a:xfrm>
            <a:off x="707136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1300" dirty="0"/>
          </a:p>
        </p:txBody>
      </p:sp>
      <p:sp>
        <p:nvSpPr>
          <p:cNvPr id="126" name="Text 121"/>
          <p:cNvSpPr/>
          <p:nvPr/>
        </p:nvSpPr>
        <p:spPr>
          <a:xfrm>
            <a:off x="707136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127" name="Shape 122"/>
          <p:cNvSpPr/>
          <p:nvPr/>
        </p:nvSpPr>
        <p:spPr>
          <a:xfrm>
            <a:off x="787908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8" name="Text 123"/>
          <p:cNvSpPr/>
          <p:nvPr/>
        </p:nvSpPr>
        <p:spPr>
          <a:xfrm>
            <a:off x="787908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300" dirty="0"/>
          </a:p>
        </p:txBody>
      </p:sp>
      <p:sp>
        <p:nvSpPr>
          <p:cNvPr id="129" name="Text 124"/>
          <p:cNvSpPr/>
          <p:nvPr/>
        </p:nvSpPr>
        <p:spPr>
          <a:xfrm>
            <a:off x="787908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130" name="Shape 125"/>
          <p:cNvSpPr/>
          <p:nvPr/>
        </p:nvSpPr>
        <p:spPr>
          <a:xfrm>
            <a:off x="900684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31" name="Shape 126"/>
          <p:cNvSpPr/>
          <p:nvPr/>
        </p:nvSpPr>
        <p:spPr>
          <a:xfrm>
            <a:off x="9006840" y="1115568"/>
            <a:ext cx="260604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2" name="Shape 127"/>
          <p:cNvSpPr/>
          <p:nvPr/>
        </p:nvSpPr>
        <p:spPr>
          <a:xfrm>
            <a:off x="900684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1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1325880"/>
            <a:ext cx="219456" cy="219456"/>
          </a:xfrm>
          <a:prstGeom prst="rect">
            <a:avLst/>
          </a:prstGeom>
        </p:spPr>
      </p:pic>
      <p:sp>
        <p:nvSpPr>
          <p:cNvPr id="134" name="Text 128"/>
          <p:cNvSpPr/>
          <p:nvPr/>
        </p:nvSpPr>
        <p:spPr>
          <a:xfrm>
            <a:off x="941832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 Miami North</a:t>
            </a:r>
            <a:endParaRPr lang="en-US" sz="1400" dirty="0"/>
          </a:p>
        </p:txBody>
      </p:sp>
      <p:sp>
        <p:nvSpPr>
          <p:cNvPr id="135" name="Text 129"/>
          <p:cNvSpPr/>
          <p:nvPr/>
        </p:nvSpPr>
        <p:spPr>
          <a:xfrm>
            <a:off x="941832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· 3000 NW 110th St</a:t>
            </a:r>
            <a:endParaRPr lang="en-US" sz="900" dirty="0"/>
          </a:p>
        </p:txBody>
      </p:sp>
      <p:sp>
        <p:nvSpPr>
          <p:cNvPr id="136" name="Text 130"/>
          <p:cNvSpPr/>
          <p:nvPr/>
        </p:nvSpPr>
        <p:spPr>
          <a:xfrm>
            <a:off x="915314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KIPP campus</a:t>
            </a:r>
            <a:endParaRPr lang="en-US" sz="850" dirty="0"/>
          </a:p>
        </p:txBody>
      </p:sp>
      <p:sp>
        <p:nvSpPr>
          <p:cNvPr id="137" name="Text 131"/>
          <p:cNvSpPr/>
          <p:nvPr/>
        </p:nvSpPr>
        <p:spPr>
          <a:xfrm>
            <a:off x="915314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CAMPUS</a:t>
            </a:r>
            <a:endParaRPr lang="en-US" sz="700" dirty="0"/>
          </a:p>
        </p:txBody>
      </p:sp>
      <p:sp>
        <p:nvSpPr>
          <p:cNvPr id="138" name="Text 132"/>
          <p:cNvSpPr/>
          <p:nvPr/>
        </p:nvSpPr>
        <p:spPr>
          <a:xfrm>
            <a:off x="915314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139" name="Text 133"/>
          <p:cNvSpPr/>
          <p:nvPr/>
        </p:nvSpPr>
        <p:spPr>
          <a:xfrm>
            <a:off x="913485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5,394</a:t>
            </a:r>
            <a:endParaRPr lang="en-US" sz="2400" dirty="0"/>
          </a:p>
        </p:txBody>
      </p:sp>
      <p:sp>
        <p:nvSpPr>
          <p:cNvPr id="140" name="Shape 134"/>
          <p:cNvSpPr/>
          <p:nvPr/>
        </p:nvSpPr>
        <p:spPr>
          <a:xfrm>
            <a:off x="1042416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1042416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142" name="Text 136"/>
          <p:cNvSpPr/>
          <p:nvPr/>
        </p:nvSpPr>
        <p:spPr>
          <a:xfrm>
            <a:off x="1042416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-8.1%</a:t>
            </a:r>
            <a:endParaRPr lang="en-US" sz="1800" dirty="0"/>
          </a:p>
        </p:txBody>
      </p:sp>
      <p:sp>
        <p:nvSpPr>
          <p:cNvPr id="143" name="Text 137"/>
          <p:cNvSpPr/>
          <p:nvPr/>
        </p:nvSpPr>
        <p:spPr>
          <a:xfrm>
            <a:off x="1042416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144" name="Text 138"/>
          <p:cNvSpPr/>
          <p:nvPr/>
        </p:nvSpPr>
        <p:spPr>
          <a:xfrm>
            <a:off x="915314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145" name="Shape 139"/>
          <p:cNvSpPr/>
          <p:nvPr/>
        </p:nvSpPr>
        <p:spPr>
          <a:xfrm>
            <a:off x="918972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9514332" y="3204916"/>
            <a:ext cx="292608" cy="909884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147" name="Text 141"/>
          <p:cNvSpPr/>
          <p:nvPr/>
        </p:nvSpPr>
        <p:spPr>
          <a:xfrm>
            <a:off x="9422892" y="304946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15,917</a:t>
            </a:r>
            <a:endParaRPr lang="en-US" sz="650" dirty="0"/>
          </a:p>
        </p:txBody>
      </p:sp>
      <p:sp>
        <p:nvSpPr>
          <p:cNvPr id="148" name="Text 142"/>
          <p:cNvSpPr/>
          <p:nvPr/>
        </p:nvSpPr>
        <p:spPr>
          <a:xfrm>
            <a:off x="945946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49" name="Shape 143"/>
          <p:cNvSpPr/>
          <p:nvPr/>
        </p:nvSpPr>
        <p:spPr>
          <a:xfrm>
            <a:off x="9861804" y="3200400"/>
            <a:ext cx="292608" cy="914400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150" name="Text 144"/>
          <p:cNvSpPr/>
          <p:nvPr/>
        </p:nvSpPr>
        <p:spPr>
          <a:xfrm>
            <a:off x="9770364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15,996</a:t>
            </a:r>
            <a:endParaRPr lang="en-US" sz="650" dirty="0"/>
          </a:p>
        </p:txBody>
      </p:sp>
      <p:sp>
        <p:nvSpPr>
          <p:cNvPr id="151" name="Text 145"/>
          <p:cNvSpPr/>
          <p:nvPr/>
        </p:nvSpPr>
        <p:spPr>
          <a:xfrm>
            <a:off x="980694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52" name="Text 146"/>
          <p:cNvSpPr/>
          <p:nvPr/>
        </p:nvSpPr>
        <p:spPr>
          <a:xfrm>
            <a:off x="951433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153" name="Text 147"/>
          <p:cNvSpPr/>
          <p:nvPr/>
        </p:nvSpPr>
        <p:spPr>
          <a:xfrm>
            <a:off x="9605772" y="287121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</a:t>
            </a:r>
            <a:endParaRPr lang="en-US" sz="950" dirty="0"/>
          </a:p>
        </p:txBody>
      </p:sp>
      <p:sp>
        <p:nvSpPr>
          <p:cNvPr id="154" name="Shape 148"/>
          <p:cNvSpPr/>
          <p:nvPr/>
        </p:nvSpPr>
        <p:spPr>
          <a:xfrm>
            <a:off x="10465308" y="3928616"/>
            <a:ext cx="292608" cy="186184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155" name="Text 149"/>
          <p:cNvSpPr/>
          <p:nvPr/>
        </p:nvSpPr>
        <p:spPr>
          <a:xfrm>
            <a:off x="10373868" y="377316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3,257</a:t>
            </a:r>
            <a:endParaRPr lang="en-US" sz="650" dirty="0"/>
          </a:p>
        </p:txBody>
      </p:sp>
      <p:sp>
        <p:nvSpPr>
          <p:cNvPr id="156" name="Text 150"/>
          <p:cNvSpPr/>
          <p:nvPr/>
        </p:nvSpPr>
        <p:spPr>
          <a:xfrm>
            <a:off x="1041044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57" name="Shape 151"/>
          <p:cNvSpPr/>
          <p:nvPr/>
        </p:nvSpPr>
        <p:spPr>
          <a:xfrm>
            <a:off x="10812780" y="3893346"/>
            <a:ext cx="292608" cy="221454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158" name="Text 152"/>
          <p:cNvSpPr/>
          <p:nvPr/>
        </p:nvSpPr>
        <p:spPr>
          <a:xfrm>
            <a:off x="10721340" y="373789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3,874</a:t>
            </a:r>
            <a:endParaRPr lang="en-US" sz="650" dirty="0"/>
          </a:p>
        </p:txBody>
      </p:sp>
      <p:sp>
        <p:nvSpPr>
          <p:cNvPr id="159" name="Text 153"/>
          <p:cNvSpPr/>
          <p:nvPr/>
        </p:nvSpPr>
        <p:spPr>
          <a:xfrm>
            <a:off x="1075791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60" name="Text 154"/>
          <p:cNvSpPr/>
          <p:nvPr/>
        </p:nvSpPr>
        <p:spPr>
          <a:xfrm>
            <a:off x="1046530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161" name="Text 155"/>
          <p:cNvSpPr/>
          <p:nvPr/>
        </p:nvSpPr>
        <p:spPr>
          <a:xfrm>
            <a:off x="10556748" y="356416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+18.9%</a:t>
            </a:r>
            <a:endParaRPr lang="en-US" sz="950" dirty="0"/>
          </a:p>
        </p:txBody>
      </p:sp>
      <p:sp>
        <p:nvSpPr>
          <p:cNvPr id="162" name="Text 156"/>
          <p:cNvSpPr/>
          <p:nvPr/>
        </p:nvSpPr>
        <p:spPr>
          <a:xfrm>
            <a:off x="915314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163" name="Shape 157"/>
          <p:cNvSpPr/>
          <p:nvPr/>
        </p:nvSpPr>
        <p:spPr>
          <a:xfrm>
            <a:off x="914400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64" name="Text 158"/>
          <p:cNvSpPr/>
          <p:nvPr/>
        </p:nvSpPr>
        <p:spPr>
          <a:xfrm>
            <a:off x="914400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300" dirty="0"/>
          </a:p>
        </p:txBody>
      </p:sp>
      <p:sp>
        <p:nvSpPr>
          <p:cNvPr id="165" name="Text 159"/>
          <p:cNvSpPr/>
          <p:nvPr/>
        </p:nvSpPr>
        <p:spPr>
          <a:xfrm>
            <a:off x="914400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166" name="Shape 160"/>
          <p:cNvSpPr/>
          <p:nvPr/>
        </p:nvSpPr>
        <p:spPr>
          <a:xfrm>
            <a:off x="995172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67" name="Text 161"/>
          <p:cNvSpPr/>
          <p:nvPr/>
        </p:nvSpPr>
        <p:spPr>
          <a:xfrm>
            <a:off x="995172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1300" dirty="0"/>
          </a:p>
        </p:txBody>
      </p:sp>
      <p:sp>
        <p:nvSpPr>
          <p:cNvPr id="168" name="Text 162"/>
          <p:cNvSpPr/>
          <p:nvPr/>
        </p:nvSpPr>
        <p:spPr>
          <a:xfrm>
            <a:off x="995172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169" name="Shape 163"/>
          <p:cNvSpPr/>
          <p:nvPr/>
        </p:nvSpPr>
        <p:spPr>
          <a:xfrm>
            <a:off x="1075944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70" name="Text 164"/>
          <p:cNvSpPr/>
          <p:nvPr/>
        </p:nvSpPr>
        <p:spPr>
          <a:xfrm>
            <a:off x="1075944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48.1%</a:t>
            </a:r>
            <a:endParaRPr lang="en-US" sz="1300" dirty="0"/>
          </a:p>
        </p:txBody>
      </p:sp>
      <p:sp>
        <p:nvSpPr>
          <p:cNvPr id="171" name="Text 165"/>
          <p:cNvSpPr/>
          <p:nvPr/>
        </p:nvSpPr>
        <p:spPr>
          <a:xfrm>
            <a:off x="1075944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172" name="Text 166"/>
          <p:cNvSpPr/>
          <p:nvPr/>
        </p:nvSpPr>
        <p:spPr>
          <a:xfrm>
            <a:off x="365760" y="6364224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KIPP Demographics tool — drive-time rings (5-min ≈ 1.83 mi, 10-min ≈ 3.67 mi radius approximations). Enrollment = K-8 students at currently active charter &amp; district schools within the 10-min ring (FL DOE; 2020-21 not in series, so endpoints are '21-22 and '25-26). Age 5-17 = ACS 5-yr estimates over the census tracts in the 5-min ring, 2021 vs 2023 (both 2020 tract boundaries). KIPP Miami North is the existing campus, shown for comparison. K-8 / age figures are ACS age-band estimates.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Indicators by Geography</dc:title>
  <dc:subject>PptxGenJS Presentation</dc:subject>
  <dc:creator>KTAF</dc:creator>
  <cp:lastModifiedBy>KTAF</cp:lastModifiedBy>
  <cp:revision>1</cp:revision>
  <dcterms:created xsi:type="dcterms:W3CDTF">2026-06-16T03:41:57Z</dcterms:created>
  <dcterms:modified xsi:type="dcterms:W3CDTF">2026-06-16T03:41:57Z</dcterms:modified>
</cp:coreProperties>
</file>