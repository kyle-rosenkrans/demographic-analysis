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2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Targeting These Three Geographies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and mission-fit picture in each neighborhood supports growth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538728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3538728" cy="100584"/>
          </a:xfrm>
          <a:prstGeom prst="rect">
            <a:avLst/>
          </a:prstGeom>
          <a:solidFill>
            <a:srgbClr val="E07A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99032"/>
            <a:ext cx="3538728" cy="93268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819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51790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 City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7552" y="1847088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-  Board District 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07568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Land site (NW 79th St)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331720"/>
            <a:ext cx="3538728" cy="42062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33172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families are already here.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28986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~7,300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40080" y="3200400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within a 5-min drive - 53,460 residents, the densest neighborhood in Miami-Dade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" y="3611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40080" y="391363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households earn under $50k - among the deepest need in the county (46% on SNAP)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43251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5,346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0080" y="4626864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+ 2,651 Hispanic children (age 0-9) inside the 5-min ring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3504" y="5074920"/>
            <a:ext cx="3246120" cy="832104"/>
          </a:xfrm>
          <a:prstGeom prst="rect">
            <a:avLst/>
          </a:prstGeom>
          <a:solidFill>
            <a:srgbClr val="F6F8FB"/>
          </a:solidFill>
          <a:ln w="12700">
            <a:solidFill>
              <a:srgbClr val="E07A1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21224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9264" y="5193792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1520" y="5458968"/>
            <a:ext cx="29900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 current KIPP students already live within 15 min of the site (399 within 5 min) - vs. just 57 around the current North campus. 396 families on the 2023-24 waitlist.</a:t>
            </a:r>
            <a:endParaRPr lang="en-US" sz="980" dirty="0"/>
          </a:p>
        </p:txBody>
      </p:sp>
      <p:sp>
        <p:nvSpPr>
          <p:cNvPr id="23" name="Shape 19"/>
          <p:cNvSpPr/>
          <p:nvPr/>
        </p:nvSpPr>
        <p:spPr>
          <a:xfrm>
            <a:off x="4311396" y="1298448"/>
            <a:ext cx="3538728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11396" y="1298448"/>
            <a:ext cx="3538728" cy="100584"/>
          </a:xfrm>
          <a:prstGeom prst="rect">
            <a:avLst/>
          </a:prstGeom>
          <a:solidFill>
            <a:srgbClr val="0067A0"/>
          </a:solidFill>
          <a:ln/>
        </p:spPr>
      </p:sp>
      <p:sp>
        <p:nvSpPr>
          <p:cNvPr id="25" name="Shape 21"/>
          <p:cNvSpPr/>
          <p:nvPr/>
        </p:nvSpPr>
        <p:spPr>
          <a:xfrm>
            <a:off x="4311396" y="1399032"/>
            <a:ext cx="3538728" cy="93268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1581912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41748" y="151790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Lauderhill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4841748" y="1847088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Broward (BCPS)  -  Board District 5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494276" y="207568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William Dandy Middle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311396" y="2331720"/>
            <a:ext cx="3538728" cy="42062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1" name="Text 26"/>
          <p:cNvSpPr/>
          <p:nvPr/>
        </p:nvSpPr>
        <p:spPr>
          <a:xfrm>
            <a:off x="4494276" y="233172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need, fewest options.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494276" y="28986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</a:t>
            </a:r>
            <a:endParaRPr lang="en-US" sz="2100" dirty="0"/>
          </a:p>
        </p:txBody>
      </p:sp>
      <p:sp>
        <p:nvSpPr>
          <p:cNvPr id="33" name="Text 28"/>
          <p:cNvSpPr/>
          <p:nvPr/>
        </p:nvSpPr>
        <p:spPr>
          <a:xfrm>
            <a:off x="4494276" y="3200400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K-8 students - K-4 population (16,656) is the largest of Broward's 7 board districts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494276" y="3611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100" dirty="0"/>
          </a:p>
        </p:txBody>
      </p:sp>
      <p:sp>
        <p:nvSpPr>
          <p:cNvPr id="35" name="Text 30"/>
          <p:cNvSpPr/>
          <p:nvPr/>
        </p:nvSpPr>
        <p:spPr>
          <a:xfrm>
            <a:off x="4494276" y="391363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households earn under $50k - the highest of all 7 districts (22% on SNAP, also #1)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4494276" y="43251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100" dirty="0"/>
          </a:p>
        </p:txBody>
      </p:sp>
      <p:sp>
        <p:nvSpPr>
          <p:cNvPr id="37" name="Text 32"/>
          <p:cNvSpPr/>
          <p:nvPr/>
        </p:nvSpPr>
        <p:spPr>
          <a:xfrm>
            <a:off x="4494276" y="4626864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share of K-8 enrollment - by far the highest of any Broward district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457700" y="5074920"/>
            <a:ext cx="3246120" cy="832104"/>
          </a:xfrm>
          <a:prstGeom prst="rect">
            <a:avLst/>
          </a:prstGeom>
          <a:solidFill>
            <a:srgbClr val="F6F8FB"/>
          </a:solidFill>
          <a:ln w="12700">
            <a:solidFill>
              <a:srgbClr val="0067A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5221224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823460" y="5193792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585716" y="5458968"/>
            <a:ext cx="29900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charter schools - the fewest in the county - yet charter share rose to ~11% while District 5 lost 2,900+ district students (-9% total since '21-22). Clear unmet demand.</a:t>
            </a:r>
            <a:endParaRPr lang="en-US" sz="980" dirty="0"/>
          </a:p>
        </p:txBody>
      </p:sp>
      <p:sp>
        <p:nvSpPr>
          <p:cNvPr id="42" name="Shape 36"/>
          <p:cNvSpPr/>
          <p:nvPr/>
        </p:nvSpPr>
        <p:spPr>
          <a:xfrm>
            <a:off x="8165592" y="1298448"/>
            <a:ext cx="3538728" cy="4736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8165592" y="1298448"/>
            <a:ext cx="3538728" cy="100584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44" name="Shape 38"/>
          <p:cNvSpPr/>
          <p:nvPr/>
        </p:nvSpPr>
        <p:spPr>
          <a:xfrm>
            <a:off x="8165592" y="1399032"/>
            <a:ext cx="3538728" cy="932688"/>
          </a:xfrm>
          <a:prstGeom prst="rect">
            <a:avLst/>
          </a:prstGeom>
          <a:solidFill>
            <a:srgbClr val="002D5B"/>
          </a:solidFill>
          <a:ln/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581912"/>
            <a:ext cx="274320" cy="2743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695944" y="151790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Homestead</a:t>
            </a:r>
            <a:endParaRPr lang="en-US" sz="1800" dirty="0"/>
          </a:p>
        </p:txBody>
      </p:sp>
      <p:sp>
        <p:nvSpPr>
          <p:cNvPr id="47" name="Text 40"/>
          <p:cNvSpPr/>
          <p:nvPr/>
        </p:nvSpPr>
        <p:spPr>
          <a:xfrm>
            <a:off x="8695944" y="1847088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Miami-Dade  -  Board District 9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8348472" y="2075688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Anchor: Air Base K-8 (building takeover)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8165592" y="2331720"/>
            <a:ext cx="3538728" cy="42062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50" name="Text 43"/>
          <p:cNvSpPr/>
          <p:nvPr/>
        </p:nvSpPr>
        <p:spPr>
          <a:xfrm>
            <a:off x="8348472" y="233172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window open - building ready.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8348472" y="28986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19,849</a:t>
            </a:r>
            <a:endParaRPr lang="en-US" sz="2100" dirty="0"/>
          </a:p>
        </p:txBody>
      </p:sp>
      <p:sp>
        <p:nvSpPr>
          <p:cNvPr id="52" name="Text 45"/>
          <p:cNvSpPr/>
          <p:nvPr/>
        </p:nvSpPr>
        <p:spPr>
          <a:xfrm>
            <a:off x="8348472" y="3200400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school-age children (5-17) within a 10-min drive, up +5% since 2020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8348472" y="361188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100" dirty="0"/>
          </a:p>
        </p:txBody>
      </p:sp>
      <p:sp>
        <p:nvSpPr>
          <p:cNvPr id="54" name="Text 47"/>
          <p:cNvSpPr/>
          <p:nvPr/>
        </p:nvSpPr>
        <p:spPr>
          <a:xfrm>
            <a:off x="8348472" y="391363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nearby students are on free/reduced lunch - high economic need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8348472" y="43251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/ 64%</a:t>
            </a:r>
            <a:endParaRPr lang="en-US" sz="2100" dirty="0"/>
          </a:p>
        </p:txBody>
      </p:sp>
      <p:sp>
        <p:nvSpPr>
          <p:cNvPr id="56" name="Text 49"/>
          <p:cNvSpPr/>
          <p:nvPr/>
        </p:nvSpPr>
        <p:spPr>
          <a:xfrm>
            <a:off x="8348472" y="4626864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/ Hispanic share of children - core mission community plus expansion</a:t>
            </a:r>
            <a:endParaRPr lang="en-US" sz="950" dirty="0"/>
          </a:p>
        </p:txBody>
      </p:sp>
      <p:sp>
        <p:nvSpPr>
          <p:cNvPr id="57" name="Shape 50"/>
          <p:cNvSpPr/>
          <p:nvPr/>
        </p:nvSpPr>
        <p:spPr>
          <a:xfrm>
            <a:off x="8311896" y="5074920"/>
            <a:ext cx="3246120" cy="832104"/>
          </a:xfrm>
          <a:prstGeom prst="rect">
            <a:avLst/>
          </a:prstGeom>
          <a:solidFill>
            <a:srgbClr val="F6F8FB"/>
          </a:solidFill>
          <a:ln w="12700">
            <a:solidFill>
              <a:srgbClr val="00843D"/>
            </a:solidFill>
            <a:prstDash val="solid"/>
          </a:ln>
        </p:spPr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5221224"/>
            <a:ext cx="182880" cy="182880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8677656" y="5193792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8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8439912" y="5458968"/>
            <a:ext cx="29900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up +11% since 2019 vs. district -1% - families are choosing alternatives. No KIPP presence yet (first-mover), and the Air Base building takeover means no construction and a faster open.</a:t>
            </a:r>
            <a:endParaRPr lang="en-US" sz="980" dirty="0"/>
          </a:p>
        </p:txBody>
      </p:sp>
      <p:sp>
        <p:nvSpPr>
          <p:cNvPr id="61" name="Text 53"/>
          <p:cNvSpPr/>
          <p:nvPr/>
        </p:nvSpPr>
        <p:spPr>
          <a:xfrm>
            <a:off x="457200" y="6236208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InSite EFS Demographic Analysis - KIPP Miami (Dec 2023, Land/79th St site, not the North campus); InSite EFS Broward County School Board Districts study (2025); KTAF Homestead / Air Base K-8 Site Analysis (June 2025).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457200" y="643737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6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Catchments differ by study - Liberty City: 5-min drive | BCPS D5: full board district | Homestead: 10-min drive - so figures are directional and not directly comparable across boxes.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Target Geographies - Demand Case</dc:title>
  <dc:subject>PptxGenJS Presentation</dc:subject>
  <dc:creator>KTAF</dc:creator>
  <cp:lastModifiedBy>KTAF</cp:lastModifiedBy>
  <cp:revision>1</cp:revision>
  <dcterms:created xsi:type="dcterms:W3CDTF">2026-06-16T02:40:14Z</dcterms:created>
  <dcterms:modified xsi:type="dcterms:W3CDTF">2026-06-16T02:40:14Z</dcterms:modified>
</cp:coreProperties>
</file>