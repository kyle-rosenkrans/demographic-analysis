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502920" cy="128016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27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 TEAM &amp; FAMILY  ·  2030 GROWTH PLANNING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2011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Demand 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Drive-time detail around four anchor sites in Miami-Dade &amp; Broward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close-in look at the demand picture in each target neighborhood: K-8 student population within a 5-minute drive, the shift between district and charter enrollment within 10 minutes, the recent school-age (5-17) population trend, and the community profile. This is supporting detail to the South Florida Growth Geographies summary.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185416" cy="38404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08406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498348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91256" y="4983480"/>
            <a:ext cx="1933042" cy="38404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508406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4983480"/>
            <a:ext cx="1548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07178" y="4983480"/>
            <a:ext cx="2017166" cy="384048"/>
          </a:xfrm>
          <a:prstGeom prst="rect">
            <a:avLst/>
          </a:prstGeom>
          <a:solidFill>
            <a:srgbClr val="0A3A66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94" y="508406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54650" y="4983480"/>
            <a:ext cx="16331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507224" y="4983480"/>
            <a:ext cx="1848917" cy="384048"/>
          </a:xfrm>
          <a:prstGeom prst="rect">
            <a:avLst/>
          </a:prstGeom>
          <a:solidFill>
            <a:srgbClr val="0A3A6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508406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54696" y="498348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 Miami North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22960" y="544068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growth targets (orange) and the existing North campus (teal), shown for comparison.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822960" y="61264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(ESRI/ACS-based drive-time rings) · FL DOE enrollment · U.S. Census ACS.    June 2026 · Prepared for KTAF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9456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Indicators by Geography — Drive-Time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demand, the charter–district enrollment shift, school-age population trend, and community profile around each anchor school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2588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Liberty City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District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Poinciana Park Elementary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206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1206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377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9,068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78308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8308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78308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8308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1206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325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15,049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81838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23" name="Shape 20"/>
          <p:cNvSpPr/>
          <p:nvPr/>
        </p:nvSpPr>
        <p:spPr>
          <a:xfrm>
            <a:off x="1220724" y="3232057"/>
            <a:ext cx="292608" cy="882743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24" name="Text 21"/>
          <p:cNvSpPr/>
          <p:nvPr/>
        </p:nvSpPr>
        <p:spPr>
          <a:xfrm>
            <a:off x="1129284" y="3076609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14,528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6586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87325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64692" y="2902873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824228" y="3925832"/>
            <a:ext cx="292608" cy="188968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29" name="Text 26"/>
          <p:cNvSpPr/>
          <p:nvPr/>
        </p:nvSpPr>
        <p:spPr>
          <a:xfrm>
            <a:off x="1732788" y="377038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3,110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176936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31" name="Shape 28"/>
          <p:cNvSpPr/>
          <p:nvPr/>
        </p:nvSpPr>
        <p:spPr>
          <a:xfrm>
            <a:off x="2171700" y="3887795"/>
            <a:ext cx="292608" cy="227005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32" name="Text 29"/>
          <p:cNvSpPr/>
          <p:nvPr/>
        </p:nvSpPr>
        <p:spPr>
          <a:xfrm>
            <a:off x="2080260" y="373234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3,736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211683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34" name="Text 31"/>
          <p:cNvSpPr/>
          <p:nvPr/>
        </p:nvSpPr>
        <p:spPr>
          <a:xfrm>
            <a:off x="182422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915668" y="3558611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1206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9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3106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1" name="Text 38"/>
          <p:cNvSpPr/>
          <p:nvPr/>
        </p:nvSpPr>
        <p:spPr>
          <a:xfrm>
            <a:off x="13106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48.5%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3106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211836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4" name="Text 41"/>
          <p:cNvSpPr/>
          <p:nvPr/>
        </p:nvSpPr>
        <p:spPr>
          <a:xfrm>
            <a:off x="211836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211836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324612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324612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48" name="Shape 45"/>
          <p:cNvSpPr/>
          <p:nvPr/>
        </p:nvSpPr>
        <p:spPr>
          <a:xfrm>
            <a:off x="324612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325880"/>
            <a:ext cx="219456" cy="219456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65760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365760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District 9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339242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Base K-8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339242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339242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337413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6,628</a:t>
            </a:r>
            <a:endParaRPr lang="en-US" sz="2400" dirty="0"/>
          </a:p>
        </p:txBody>
      </p:sp>
      <p:sp>
        <p:nvSpPr>
          <p:cNvPr id="56" name="Shape 52"/>
          <p:cNvSpPr/>
          <p:nvPr/>
        </p:nvSpPr>
        <p:spPr>
          <a:xfrm>
            <a:off x="466344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66344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466344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800" dirty="0"/>
          </a:p>
        </p:txBody>
      </p:sp>
      <p:sp>
        <p:nvSpPr>
          <p:cNvPr id="59" name="Text 55"/>
          <p:cNvSpPr/>
          <p:nvPr/>
        </p:nvSpPr>
        <p:spPr>
          <a:xfrm>
            <a:off x="466344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39242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61" name="Shape 57"/>
          <p:cNvSpPr/>
          <p:nvPr/>
        </p:nvSpPr>
        <p:spPr>
          <a:xfrm>
            <a:off x="342900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75361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63" name="Text 59"/>
          <p:cNvSpPr/>
          <p:nvPr/>
        </p:nvSpPr>
        <p:spPr>
          <a:xfrm>
            <a:off x="366217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3,525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369874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65" name="Shape 61"/>
          <p:cNvSpPr/>
          <p:nvPr/>
        </p:nvSpPr>
        <p:spPr>
          <a:xfrm>
            <a:off x="4101084" y="3250984"/>
            <a:ext cx="292608" cy="863816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66" name="Text 62"/>
          <p:cNvSpPr/>
          <p:nvPr/>
        </p:nvSpPr>
        <p:spPr>
          <a:xfrm>
            <a:off x="4009644" y="309553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3,330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404622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68" name="Text 64"/>
          <p:cNvSpPr/>
          <p:nvPr/>
        </p:nvSpPr>
        <p:spPr>
          <a:xfrm>
            <a:off x="375361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3845052" y="29218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-5.5%</a:t>
            </a:r>
            <a:endParaRPr lang="en-US" sz="950" dirty="0"/>
          </a:p>
        </p:txBody>
      </p:sp>
      <p:sp>
        <p:nvSpPr>
          <p:cNvPr id="70" name="Shape 66"/>
          <p:cNvSpPr/>
          <p:nvPr/>
        </p:nvSpPr>
        <p:spPr>
          <a:xfrm>
            <a:off x="4704588" y="3556562"/>
            <a:ext cx="292608" cy="558238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71" name="Text 67"/>
          <p:cNvSpPr/>
          <p:nvPr/>
        </p:nvSpPr>
        <p:spPr>
          <a:xfrm>
            <a:off x="4613148" y="340111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2,152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464972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73" name="Shape 69"/>
          <p:cNvSpPr/>
          <p:nvPr/>
        </p:nvSpPr>
        <p:spPr>
          <a:xfrm>
            <a:off x="5052060" y="3465771"/>
            <a:ext cx="292608" cy="649029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74" name="Text 70"/>
          <p:cNvSpPr/>
          <p:nvPr/>
        </p:nvSpPr>
        <p:spPr>
          <a:xfrm>
            <a:off x="4960620" y="3310323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2,502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499719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70458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4796028" y="3136587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+16.3%</a:t>
            </a:r>
            <a:endParaRPr lang="en-US" sz="950" dirty="0"/>
          </a:p>
        </p:txBody>
      </p:sp>
      <p:sp>
        <p:nvSpPr>
          <p:cNvPr id="78" name="Text 74"/>
          <p:cNvSpPr/>
          <p:nvPr/>
        </p:nvSpPr>
        <p:spPr>
          <a:xfrm>
            <a:off x="339242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338328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0" name="Text 76"/>
          <p:cNvSpPr/>
          <p:nvPr/>
        </p:nvSpPr>
        <p:spPr>
          <a:xfrm>
            <a:off x="338328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300" dirty="0"/>
          </a:p>
        </p:txBody>
      </p:sp>
      <p:sp>
        <p:nvSpPr>
          <p:cNvPr id="81" name="Text 77"/>
          <p:cNvSpPr/>
          <p:nvPr/>
        </p:nvSpPr>
        <p:spPr>
          <a:xfrm>
            <a:off x="338328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82" name="Shape 78"/>
          <p:cNvSpPr/>
          <p:nvPr/>
        </p:nvSpPr>
        <p:spPr>
          <a:xfrm>
            <a:off x="419100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3" name="Text 79"/>
          <p:cNvSpPr/>
          <p:nvPr/>
        </p:nvSpPr>
        <p:spPr>
          <a:xfrm>
            <a:off x="419100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</a:t>
            </a:r>
            <a:endParaRPr lang="en-US" sz="1300" dirty="0"/>
          </a:p>
        </p:txBody>
      </p:sp>
      <p:sp>
        <p:nvSpPr>
          <p:cNvPr id="84" name="Text 80"/>
          <p:cNvSpPr/>
          <p:nvPr/>
        </p:nvSpPr>
        <p:spPr>
          <a:xfrm>
            <a:off x="419100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85" name="Shape 81"/>
          <p:cNvSpPr/>
          <p:nvPr/>
        </p:nvSpPr>
        <p:spPr>
          <a:xfrm>
            <a:off x="49987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6" name="Text 82"/>
          <p:cNvSpPr/>
          <p:nvPr/>
        </p:nvSpPr>
        <p:spPr>
          <a:xfrm>
            <a:off x="49987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300" dirty="0"/>
          </a:p>
        </p:txBody>
      </p:sp>
      <p:sp>
        <p:nvSpPr>
          <p:cNvPr id="87" name="Text 83"/>
          <p:cNvSpPr/>
          <p:nvPr/>
        </p:nvSpPr>
        <p:spPr>
          <a:xfrm>
            <a:off x="49987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612648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9" name="Shape 85"/>
          <p:cNvSpPr/>
          <p:nvPr/>
        </p:nvSpPr>
        <p:spPr>
          <a:xfrm>
            <a:off x="6126480" y="1115568"/>
            <a:ext cx="2606040" cy="91440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90" name="Shape 86"/>
          <p:cNvSpPr/>
          <p:nvPr/>
        </p:nvSpPr>
        <p:spPr>
          <a:xfrm>
            <a:off x="612648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9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25880"/>
            <a:ext cx="219456" cy="219456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653796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400" dirty="0"/>
          </a:p>
        </p:txBody>
      </p:sp>
      <p:sp>
        <p:nvSpPr>
          <p:cNvPr id="93" name="Text 88"/>
          <p:cNvSpPr/>
          <p:nvPr/>
        </p:nvSpPr>
        <p:spPr>
          <a:xfrm>
            <a:off x="653796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· District 5</a:t>
            </a:r>
            <a:endParaRPr lang="en-US" sz="900" dirty="0"/>
          </a:p>
        </p:txBody>
      </p:sp>
      <p:sp>
        <p:nvSpPr>
          <p:cNvPr id="94" name="Text 89"/>
          <p:cNvSpPr/>
          <p:nvPr/>
        </p:nvSpPr>
        <p:spPr>
          <a:xfrm>
            <a:off x="627278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Dandy Middle</a:t>
            </a:r>
            <a:endParaRPr lang="en-US" sz="850" dirty="0"/>
          </a:p>
        </p:txBody>
      </p:sp>
      <p:sp>
        <p:nvSpPr>
          <p:cNvPr id="95" name="Text 90"/>
          <p:cNvSpPr/>
          <p:nvPr/>
        </p:nvSpPr>
        <p:spPr>
          <a:xfrm>
            <a:off x="627278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C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700" dirty="0"/>
          </a:p>
        </p:txBody>
      </p:sp>
      <p:sp>
        <p:nvSpPr>
          <p:cNvPr id="96" name="Text 91"/>
          <p:cNvSpPr/>
          <p:nvPr/>
        </p:nvSpPr>
        <p:spPr>
          <a:xfrm>
            <a:off x="627278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97" name="Text 92"/>
          <p:cNvSpPr/>
          <p:nvPr/>
        </p:nvSpPr>
        <p:spPr>
          <a:xfrm>
            <a:off x="625449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9,627</a:t>
            </a:r>
            <a:endParaRPr lang="en-US" sz="2400" dirty="0"/>
          </a:p>
        </p:txBody>
      </p:sp>
      <p:sp>
        <p:nvSpPr>
          <p:cNvPr id="98" name="Shape 93"/>
          <p:cNvSpPr/>
          <p:nvPr/>
        </p:nvSpPr>
        <p:spPr>
          <a:xfrm>
            <a:off x="754380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1B7F3B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54380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00" name="Text 95"/>
          <p:cNvSpPr/>
          <p:nvPr/>
        </p:nvSpPr>
        <p:spPr>
          <a:xfrm>
            <a:off x="754380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800" dirty="0"/>
          </a:p>
        </p:txBody>
      </p:sp>
      <p:sp>
        <p:nvSpPr>
          <p:cNvPr id="101" name="Text 96"/>
          <p:cNvSpPr/>
          <p:nvPr/>
        </p:nvSpPr>
        <p:spPr>
          <a:xfrm>
            <a:off x="754380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627278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03" name="Shape 98"/>
          <p:cNvSpPr/>
          <p:nvPr/>
        </p:nvSpPr>
        <p:spPr>
          <a:xfrm>
            <a:off x="630936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6633972" y="3200400"/>
            <a:ext cx="292608" cy="914400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105" name="Text 100"/>
          <p:cNvSpPr/>
          <p:nvPr/>
        </p:nvSpPr>
        <p:spPr>
          <a:xfrm>
            <a:off x="6542532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8,391</a:t>
            </a:r>
            <a:endParaRPr lang="en-US" sz="650" dirty="0"/>
          </a:p>
        </p:txBody>
      </p:sp>
      <p:sp>
        <p:nvSpPr>
          <p:cNvPr id="106" name="Text 101"/>
          <p:cNvSpPr/>
          <p:nvPr/>
        </p:nvSpPr>
        <p:spPr>
          <a:xfrm>
            <a:off x="657910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07" name="Shape 102"/>
          <p:cNvSpPr/>
          <p:nvPr/>
        </p:nvSpPr>
        <p:spPr>
          <a:xfrm>
            <a:off x="6981444" y="3236143"/>
            <a:ext cx="292608" cy="878657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108" name="Text 103"/>
          <p:cNvSpPr/>
          <p:nvPr/>
        </p:nvSpPr>
        <p:spPr>
          <a:xfrm>
            <a:off x="6890004" y="3080695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8,063</a:t>
            </a:r>
            <a:endParaRPr lang="en-US" sz="650" dirty="0"/>
          </a:p>
        </p:txBody>
      </p:sp>
      <p:sp>
        <p:nvSpPr>
          <p:cNvPr id="109" name="Text 104"/>
          <p:cNvSpPr/>
          <p:nvPr/>
        </p:nvSpPr>
        <p:spPr>
          <a:xfrm>
            <a:off x="692658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10" name="Text 105"/>
          <p:cNvSpPr/>
          <p:nvPr/>
        </p:nvSpPr>
        <p:spPr>
          <a:xfrm>
            <a:off x="663397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111" name="Text 106"/>
          <p:cNvSpPr/>
          <p:nvPr/>
        </p:nvSpPr>
        <p:spPr>
          <a:xfrm>
            <a:off x="6725412" y="2906959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950" dirty="0"/>
          </a:p>
        </p:txBody>
      </p:sp>
      <p:sp>
        <p:nvSpPr>
          <p:cNvPr id="112" name="Shape 107"/>
          <p:cNvSpPr/>
          <p:nvPr/>
        </p:nvSpPr>
        <p:spPr>
          <a:xfrm>
            <a:off x="7584948" y="3912000"/>
            <a:ext cx="292608" cy="202800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113" name="Text 108"/>
          <p:cNvSpPr/>
          <p:nvPr/>
        </p:nvSpPr>
        <p:spPr>
          <a:xfrm>
            <a:off x="7493508" y="37565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1,861</a:t>
            </a:r>
            <a:endParaRPr lang="en-US" sz="650" dirty="0"/>
          </a:p>
        </p:txBody>
      </p:sp>
      <p:sp>
        <p:nvSpPr>
          <p:cNvPr id="114" name="Text 109"/>
          <p:cNvSpPr/>
          <p:nvPr/>
        </p:nvSpPr>
        <p:spPr>
          <a:xfrm>
            <a:off x="753008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15" name="Shape 110"/>
          <p:cNvSpPr/>
          <p:nvPr/>
        </p:nvSpPr>
        <p:spPr>
          <a:xfrm>
            <a:off x="7932420" y="3893365"/>
            <a:ext cx="292608" cy="221435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116" name="Text 111"/>
          <p:cNvSpPr/>
          <p:nvPr/>
        </p:nvSpPr>
        <p:spPr>
          <a:xfrm>
            <a:off x="7840980" y="373791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2,032</a:t>
            </a:r>
            <a:endParaRPr lang="en-US" sz="650" dirty="0"/>
          </a:p>
        </p:txBody>
      </p:sp>
      <p:sp>
        <p:nvSpPr>
          <p:cNvPr id="117" name="Text 112"/>
          <p:cNvSpPr/>
          <p:nvPr/>
        </p:nvSpPr>
        <p:spPr>
          <a:xfrm>
            <a:off x="787755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18" name="Text 113"/>
          <p:cNvSpPr/>
          <p:nvPr/>
        </p:nvSpPr>
        <p:spPr>
          <a:xfrm>
            <a:off x="758494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119" name="Text 114"/>
          <p:cNvSpPr/>
          <p:nvPr/>
        </p:nvSpPr>
        <p:spPr>
          <a:xfrm>
            <a:off x="7676388" y="3564181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+9.2%</a:t>
            </a:r>
            <a:endParaRPr lang="en-US" sz="950" dirty="0"/>
          </a:p>
        </p:txBody>
      </p:sp>
      <p:sp>
        <p:nvSpPr>
          <p:cNvPr id="120" name="Text 115"/>
          <p:cNvSpPr/>
          <p:nvPr/>
        </p:nvSpPr>
        <p:spPr>
          <a:xfrm>
            <a:off x="627278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121" name="Shape 116"/>
          <p:cNvSpPr/>
          <p:nvPr/>
        </p:nvSpPr>
        <p:spPr>
          <a:xfrm>
            <a:off x="62636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2" name="Text 117"/>
          <p:cNvSpPr/>
          <p:nvPr/>
        </p:nvSpPr>
        <p:spPr>
          <a:xfrm>
            <a:off x="62636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71.7%</a:t>
            </a:r>
            <a:endParaRPr lang="en-US" sz="1300" dirty="0"/>
          </a:p>
        </p:txBody>
      </p:sp>
      <p:sp>
        <p:nvSpPr>
          <p:cNvPr id="123" name="Text 118"/>
          <p:cNvSpPr/>
          <p:nvPr/>
        </p:nvSpPr>
        <p:spPr>
          <a:xfrm>
            <a:off x="62636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124" name="Shape 119"/>
          <p:cNvSpPr/>
          <p:nvPr/>
        </p:nvSpPr>
        <p:spPr>
          <a:xfrm>
            <a:off x="707136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5" name="Text 120"/>
          <p:cNvSpPr/>
          <p:nvPr/>
        </p:nvSpPr>
        <p:spPr>
          <a:xfrm>
            <a:off x="707136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300" dirty="0"/>
          </a:p>
        </p:txBody>
      </p:sp>
      <p:sp>
        <p:nvSpPr>
          <p:cNvPr id="126" name="Text 121"/>
          <p:cNvSpPr/>
          <p:nvPr/>
        </p:nvSpPr>
        <p:spPr>
          <a:xfrm>
            <a:off x="707136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127" name="Shape 122"/>
          <p:cNvSpPr/>
          <p:nvPr/>
        </p:nvSpPr>
        <p:spPr>
          <a:xfrm>
            <a:off x="787908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8" name="Text 123"/>
          <p:cNvSpPr/>
          <p:nvPr/>
        </p:nvSpPr>
        <p:spPr>
          <a:xfrm>
            <a:off x="787908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300" dirty="0"/>
          </a:p>
        </p:txBody>
      </p:sp>
      <p:sp>
        <p:nvSpPr>
          <p:cNvPr id="129" name="Text 124"/>
          <p:cNvSpPr/>
          <p:nvPr/>
        </p:nvSpPr>
        <p:spPr>
          <a:xfrm>
            <a:off x="787908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9006840" y="1115568"/>
            <a:ext cx="2606040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1" name="Shape 126"/>
          <p:cNvSpPr/>
          <p:nvPr/>
        </p:nvSpPr>
        <p:spPr>
          <a:xfrm>
            <a:off x="9006840" y="1115568"/>
            <a:ext cx="260604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2" name="Shape 127"/>
          <p:cNvSpPr/>
          <p:nvPr/>
        </p:nvSpPr>
        <p:spPr>
          <a:xfrm>
            <a:off x="9006840" y="1207008"/>
            <a:ext cx="2606040" cy="84124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1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1325880"/>
            <a:ext cx="219456" cy="219456"/>
          </a:xfrm>
          <a:prstGeom prst="rect">
            <a:avLst/>
          </a:prstGeom>
        </p:spPr>
      </p:pic>
      <p:sp>
        <p:nvSpPr>
          <p:cNvPr id="134" name="Text 128"/>
          <p:cNvSpPr/>
          <p:nvPr/>
        </p:nvSpPr>
        <p:spPr>
          <a:xfrm>
            <a:off x="941832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 Miami North</a:t>
            </a:r>
            <a:endParaRPr lang="en-US" sz="1400" dirty="0"/>
          </a:p>
        </p:txBody>
      </p:sp>
      <p:sp>
        <p:nvSpPr>
          <p:cNvPr id="135" name="Text 129"/>
          <p:cNvSpPr/>
          <p:nvPr/>
        </p:nvSpPr>
        <p:spPr>
          <a:xfrm>
            <a:off x="9418320" y="1545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· 3000 NW 110th St</a:t>
            </a:r>
            <a:endParaRPr lang="en-US" sz="900" dirty="0"/>
          </a:p>
        </p:txBody>
      </p:sp>
      <p:sp>
        <p:nvSpPr>
          <p:cNvPr id="136" name="Text 130"/>
          <p:cNvSpPr/>
          <p:nvPr/>
        </p:nvSpPr>
        <p:spPr>
          <a:xfrm>
            <a:off x="9153144" y="1719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KIPP campus</a:t>
            </a:r>
            <a:endParaRPr lang="en-US" sz="850" dirty="0"/>
          </a:p>
        </p:txBody>
      </p:sp>
      <p:sp>
        <p:nvSpPr>
          <p:cNvPr id="137" name="Text 131"/>
          <p:cNvSpPr/>
          <p:nvPr/>
        </p:nvSpPr>
        <p:spPr>
          <a:xfrm>
            <a:off x="9153144" y="18745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CAMPUS</a:t>
            </a:r>
            <a:endParaRPr lang="en-US" sz="700" dirty="0"/>
          </a:p>
        </p:txBody>
      </p:sp>
      <p:sp>
        <p:nvSpPr>
          <p:cNvPr id="138" name="Text 132"/>
          <p:cNvSpPr/>
          <p:nvPr/>
        </p:nvSpPr>
        <p:spPr>
          <a:xfrm>
            <a:off x="9153144" y="2121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· 5-MIN</a:t>
            </a:r>
            <a:endParaRPr lang="en-US" sz="750" dirty="0"/>
          </a:p>
        </p:txBody>
      </p:sp>
      <p:sp>
        <p:nvSpPr>
          <p:cNvPr id="139" name="Text 133"/>
          <p:cNvSpPr/>
          <p:nvPr/>
        </p:nvSpPr>
        <p:spPr>
          <a:xfrm>
            <a:off x="9134856" y="22585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5,394</a:t>
            </a:r>
            <a:endParaRPr lang="en-US" sz="2400" dirty="0"/>
          </a:p>
        </p:txBody>
      </p:sp>
      <p:sp>
        <p:nvSpPr>
          <p:cNvPr id="140" name="Shape 134"/>
          <p:cNvSpPr/>
          <p:nvPr/>
        </p:nvSpPr>
        <p:spPr>
          <a:xfrm>
            <a:off x="10424160" y="2103120"/>
            <a:ext cx="1042416" cy="621792"/>
          </a:xfrm>
          <a:prstGeom prst="rect">
            <a:avLst/>
          </a:prstGeom>
          <a:solidFill>
            <a:srgbClr val="F2F5F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10424160" y="215798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5-17</a:t>
            </a:r>
            <a:endParaRPr lang="en-US" sz="700" dirty="0"/>
          </a:p>
        </p:txBody>
      </p:sp>
      <p:sp>
        <p:nvSpPr>
          <p:cNvPr id="142" name="Text 136"/>
          <p:cNvSpPr/>
          <p:nvPr/>
        </p:nvSpPr>
        <p:spPr>
          <a:xfrm>
            <a:off x="10424160" y="227685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-8.1%</a:t>
            </a:r>
            <a:endParaRPr lang="en-US" sz="1800" dirty="0"/>
          </a:p>
        </p:txBody>
      </p:sp>
      <p:sp>
        <p:nvSpPr>
          <p:cNvPr id="143" name="Text 137"/>
          <p:cNvSpPr/>
          <p:nvPr/>
        </p:nvSpPr>
        <p:spPr>
          <a:xfrm>
            <a:off x="10424160" y="25603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'21→'23</a:t>
            </a:r>
            <a:endParaRPr lang="en-US" sz="700" dirty="0"/>
          </a:p>
        </p:txBody>
      </p:sp>
      <p:sp>
        <p:nvSpPr>
          <p:cNvPr id="144" name="Text 138"/>
          <p:cNvSpPr/>
          <p:nvPr/>
        </p:nvSpPr>
        <p:spPr>
          <a:xfrm>
            <a:off x="9153144" y="27980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2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ENROLLMENT · 10-MIN  ('21-22 vs '25-26)</a:t>
            </a:r>
            <a:endParaRPr lang="en-US" sz="730" dirty="0"/>
          </a:p>
        </p:txBody>
      </p:sp>
      <p:sp>
        <p:nvSpPr>
          <p:cNvPr id="145" name="Shape 139"/>
          <p:cNvSpPr/>
          <p:nvPr/>
        </p:nvSpPr>
        <p:spPr>
          <a:xfrm>
            <a:off x="9189720" y="4114800"/>
            <a:ext cx="22402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9514332" y="3204916"/>
            <a:ext cx="292608" cy="909884"/>
          </a:xfrm>
          <a:prstGeom prst="rect">
            <a:avLst/>
          </a:prstGeom>
          <a:solidFill>
            <a:srgbClr val="AEBED0"/>
          </a:solidFill>
          <a:ln/>
        </p:spPr>
      </p:sp>
      <p:sp>
        <p:nvSpPr>
          <p:cNvPr id="147" name="Text 141"/>
          <p:cNvSpPr/>
          <p:nvPr/>
        </p:nvSpPr>
        <p:spPr>
          <a:xfrm>
            <a:off x="9422892" y="304946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15,917</a:t>
            </a:r>
            <a:endParaRPr lang="en-US" sz="650" dirty="0"/>
          </a:p>
        </p:txBody>
      </p:sp>
      <p:sp>
        <p:nvSpPr>
          <p:cNvPr id="148" name="Text 142"/>
          <p:cNvSpPr/>
          <p:nvPr/>
        </p:nvSpPr>
        <p:spPr>
          <a:xfrm>
            <a:off x="9459468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49" name="Shape 143"/>
          <p:cNvSpPr/>
          <p:nvPr/>
        </p:nvSpPr>
        <p:spPr>
          <a:xfrm>
            <a:off x="9861804" y="3200400"/>
            <a:ext cx="292608" cy="914400"/>
          </a:xfrm>
          <a:prstGeom prst="rect">
            <a:avLst/>
          </a:prstGeom>
          <a:solidFill>
            <a:srgbClr val="33506E"/>
          </a:solidFill>
          <a:ln/>
        </p:spPr>
      </p:sp>
      <p:sp>
        <p:nvSpPr>
          <p:cNvPr id="150" name="Text 144"/>
          <p:cNvSpPr/>
          <p:nvPr/>
        </p:nvSpPr>
        <p:spPr>
          <a:xfrm>
            <a:off x="9770364" y="30449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15,996</a:t>
            </a:r>
            <a:endParaRPr lang="en-US" sz="650" dirty="0"/>
          </a:p>
        </p:txBody>
      </p:sp>
      <p:sp>
        <p:nvSpPr>
          <p:cNvPr id="151" name="Text 145"/>
          <p:cNvSpPr/>
          <p:nvPr/>
        </p:nvSpPr>
        <p:spPr>
          <a:xfrm>
            <a:off x="9806940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52" name="Text 146"/>
          <p:cNvSpPr/>
          <p:nvPr/>
        </p:nvSpPr>
        <p:spPr>
          <a:xfrm>
            <a:off x="9514332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</p:txBody>
      </p:sp>
      <p:sp>
        <p:nvSpPr>
          <p:cNvPr id="153" name="Text 147"/>
          <p:cNvSpPr/>
          <p:nvPr/>
        </p:nvSpPr>
        <p:spPr>
          <a:xfrm>
            <a:off x="9605772" y="28712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950" dirty="0"/>
          </a:p>
        </p:txBody>
      </p:sp>
      <p:sp>
        <p:nvSpPr>
          <p:cNvPr id="154" name="Shape 148"/>
          <p:cNvSpPr/>
          <p:nvPr/>
        </p:nvSpPr>
        <p:spPr>
          <a:xfrm>
            <a:off x="10465308" y="3928616"/>
            <a:ext cx="292608" cy="186184"/>
          </a:xfrm>
          <a:prstGeom prst="rect">
            <a:avLst/>
          </a:prstGeom>
          <a:solidFill>
            <a:srgbClr val="F4CFA6"/>
          </a:solidFill>
          <a:ln/>
        </p:spPr>
      </p:sp>
      <p:sp>
        <p:nvSpPr>
          <p:cNvPr id="155" name="Text 149"/>
          <p:cNvSpPr/>
          <p:nvPr/>
        </p:nvSpPr>
        <p:spPr>
          <a:xfrm>
            <a:off x="10373868" y="377316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3,257</a:t>
            </a:r>
            <a:endParaRPr lang="en-US" sz="650" dirty="0"/>
          </a:p>
        </p:txBody>
      </p:sp>
      <p:sp>
        <p:nvSpPr>
          <p:cNvPr id="156" name="Text 150"/>
          <p:cNvSpPr/>
          <p:nvPr/>
        </p:nvSpPr>
        <p:spPr>
          <a:xfrm>
            <a:off x="10410444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'21-22</a:t>
            </a:r>
            <a:endParaRPr lang="en-US" sz="630" dirty="0"/>
          </a:p>
        </p:txBody>
      </p:sp>
      <p:sp>
        <p:nvSpPr>
          <p:cNvPr id="157" name="Shape 151"/>
          <p:cNvSpPr/>
          <p:nvPr/>
        </p:nvSpPr>
        <p:spPr>
          <a:xfrm>
            <a:off x="10812780" y="3893346"/>
            <a:ext cx="292608" cy="221454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158" name="Text 152"/>
          <p:cNvSpPr/>
          <p:nvPr/>
        </p:nvSpPr>
        <p:spPr>
          <a:xfrm>
            <a:off x="10721340" y="373789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3,874</a:t>
            </a:r>
            <a:endParaRPr lang="en-US" sz="650" dirty="0"/>
          </a:p>
        </p:txBody>
      </p:sp>
      <p:sp>
        <p:nvSpPr>
          <p:cNvPr id="159" name="Text 153"/>
          <p:cNvSpPr/>
          <p:nvPr/>
        </p:nvSpPr>
        <p:spPr>
          <a:xfrm>
            <a:off x="10757916" y="414223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'25-26</a:t>
            </a:r>
            <a:endParaRPr lang="en-US" sz="630" dirty="0"/>
          </a:p>
        </p:txBody>
      </p:sp>
      <p:sp>
        <p:nvSpPr>
          <p:cNvPr id="160" name="Text 154"/>
          <p:cNvSpPr/>
          <p:nvPr/>
        </p:nvSpPr>
        <p:spPr>
          <a:xfrm>
            <a:off x="10465308" y="4288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50" dirty="0"/>
          </a:p>
        </p:txBody>
      </p:sp>
      <p:sp>
        <p:nvSpPr>
          <p:cNvPr id="161" name="Text 155"/>
          <p:cNvSpPr/>
          <p:nvPr/>
        </p:nvSpPr>
        <p:spPr>
          <a:xfrm>
            <a:off x="10556748" y="356416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+18.9%</a:t>
            </a:r>
            <a:endParaRPr lang="en-US" sz="950" dirty="0"/>
          </a:p>
        </p:txBody>
      </p:sp>
      <p:sp>
        <p:nvSpPr>
          <p:cNvPr id="162" name="Text 156"/>
          <p:cNvSpPr/>
          <p:nvPr/>
        </p:nvSpPr>
        <p:spPr>
          <a:xfrm>
            <a:off x="9153144" y="45354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5-MIN</a:t>
            </a:r>
            <a:endParaRPr lang="en-US" sz="750" dirty="0"/>
          </a:p>
        </p:txBody>
      </p:sp>
      <p:sp>
        <p:nvSpPr>
          <p:cNvPr id="163" name="Shape 157"/>
          <p:cNvSpPr/>
          <p:nvPr/>
        </p:nvSpPr>
        <p:spPr>
          <a:xfrm>
            <a:off x="914400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64" name="Text 158"/>
          <p:cNvSpPr/>
          <p:nvPr/>
        </p:nvSpPr>
        <p:spPr>
          <a:xfrm>
            <a:off x="914400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300" dirty="0"/>
          </a:p>
        </p:txBody>
      </p:sp>
      <p:sp>
        <p:nvSpPr>
          <p:cNvPr id="165" name="Text 159"/>
          <p:cNvSpPr/>
          <p:nvPr/>
        </p:nvSpPr>
        <p:spPr>
          <a:xfrm>
            <a:off x="914400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Black</a:t>
            </a:r>
            <a:endParaRPr lang="en-US" sz="700" dirty="0"/>
          </a:p>
        </p:txBody>
      </p:sp>
      <p:sp>
        <p:nvSpPr>
          <p:cNvPr id="166" name="Shape 160"/>
          <p:cNvSpPr/>
          <p:nvPr/>
        </p:nvSpPr>
        <p:spPr>
          <a:xfrm>
            <a:off x="995172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67" name="Text 161"/>
          <p:cNvSpPr/>
          <p:nvPr/>
        </p:nvSpPr>
        <p:spPr>
          <a:xfrm>
            <a:off x="995172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1300" dirty="0"/>
          </a:p>
        </p:txBody>
      </p:sp>
      <p:sp>
        <p:nvSpPr>
          <p:cNvPr id="168" name="Text 162"/>
          <p:cNvSpPr/>
          <p:nvPr/>
        </p:nvSpPr>
        <p:spPr>
          <a:xfrm>
            <a:off x="995172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Hispanic</a:t>
            </a:r>
            <a:endParaRPr lang="en-US" sz="700" dirty="0"/>
          </a:p>
        </p:txBody>
      </p:sp>
      <p:sp>
        <p:nvSpPr>
          <p:cNvPr id="169" name="Shape 163"/>
          <p:cNvSpPr/>
          <p:nvPr/>
        </p:nvSpPr>
        <p:spPr>
          <a:xfrm>
            <a:off x="10759440" y="4718304"/>
            <a:ext cx="716280" cy="5486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70" name="Text 164"/>
          <p:cNvSpPr/>
          <p:nvPr/>
        </p:nvSpPr>
        <p:spPr>
          <a:xfrm>
            <a:off x="10759440" y="4782312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48.1%</a:t>
            </a:r>
            <a:endParaRPr lang="en-US" sz="1300" dirty="0"/>
          </a:p>
        </p:txBody>
      </p:sp>
      <p:sp>
        <p:nvSpPr>
          <p:cNvPr id="171" name="Text 165"/>
          <p:cNvSpPr/>
          <p:nvPr/>
        </p:nvSpPr>
        <p:spPr>
          <a:xfrm>
            <a:off x="10759440" y="5065776"/>
            <a:ext cx="71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HHI&lt;$50k</a:t>
            </a:r>
            <a:endParaRPr lang="en-US" sz="700" dirty="0"/>
          </a:p>
        </p:txBody>
      </p:sp>
      <p:sp>
        <p:nvSpPr>
          <p:cNvPr id="172" name="Text 166"/>
          <p:cNvSpPr/>
          <p:nvPr/>
        </p:nvSpPr>
        <p:spPr>
          <a:xfrm>
            <a:off x="365760" y="6364224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KIPP Demographics tool — drive-time rings (5-min ≈ 1.83 mi, 10-min ≈ 3.67 mi radius approximations). Enrollment = K-8 students at currently active charter &amp; district schools within the 10-min ring (FL DOE; 2020-21 not in series, so endpoints are '21-22 and '25-26). Age 5-17 = ACS 5-yr estimates over the census tracts in the 5-min ring, 2021 vs 2023 (both 2020 tract boundaries). KIPP Miami North is the existing campus, shown for comparison. K-8 / age figures are ACS age-band estimates.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Demand Analysis — Drive-Time Detail</dc:title>
  <dc:subject>PptxGenJS Presentation</dc:subject>
  <dc:creator>KTAF</dc:creator>
  <cp:lastModifiedBy>KTAF</cp:lastModifiedBy>
  <cp:revision>1</cp:revision>
  <dcterms:created xsi:type="dcterms:W3CDTF">2026-06-16T03:47:50Z</dcterms:created>
  <dcterms:modified xsi:type="dcterms:W3CDTF">2026-06-16T03:47:50Z</dcterms:modified>
</cp:coreProperties>
</file>