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District</c:v>
                </c:pt>
              </c:strCache>
            </c:strRef>
          </c:tx>
          <c:spPr>
            <a:solidFill>
              <a:srgbClr val="33506E"/>
            </a:solidFill>
            <a:ln w="31750" cap="flat">
              <a:solidFill>
                <a:srgbClr val="33506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3506E"/>
              </a:solidFill>
              <a:ln w="9525" cap="flat">
                <a:solidFill>
                  <a:srgbClr val="33506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'21-22</c:v>
                  </c:pt>
                  <c:pt idx="1">
                    <c:v>'22-23</c:v>
                  </c:pt>
                  <c:pt idx="2">
                    <c:v>'23-24</c:v>
                  </c:pt>
                  <c:pt idx="3">
                    <c:v>'24-25</c:v>
                  </c:pt>
                  <c:pt idx="4">
                    <c:v>'25-26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15049</c:v>
                </c:pt>
                <c:pt idx="1">
                  <c:v>15689</c:v>
                </c:pt>
                <c:pt idx="2">
                  <c:v>15522</c:v>
                </c:pt>
                <c:pt idx="3">
                  <c:v>15570</c:v>
                </c:pt>
                <c:pt idx="4">
                  <c:v>14528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Charter</c:v>
                </c:pt>
              </c:strCache>
            </c:strRef>
          </c:tx>
          <c:spPr>
            <a:solidFill>
              <a:srgbClr val="E07A1E"/>
            </a:solidFill>
            <a:ln w="31750" cap="flat">
              <a:solidFill>
                <a:srgbClr val="E07A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07A1E"/>
              </a:solidFill>
              <a:ln w="9525" cap="flat">
                <a:solidFill>
                  <a:srgbClr val="E07A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'21-22</c:v>
                  </c:pt>
                  <c:pt idx="1">
                    <c:v>'22-23</c:v>
                  </c:pt>
                  <c:pt idx="2">
                    <c:v>'23-24</c:v>
                  </c:pt>
                  <c:pt idx="3">
                    <c:v>'24-25</c:v>
                  </c:pt>
                  <c:pt idx="4">
                    <c:v>'25-26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3110</c:v>
                </c:pt>
                <c:pt idx="1">
                  <c:v>3545</c:v>
                </c:pt>
                <c:pt idx="2">
                  <c:v>3678</c:v>
                </c:pt>
                <c:pt idx="3">
                  <c:v>3856</c:v>
                </c:pt>
                <c:pt idx="4">
                  <c:v>3736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5B657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5B657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1F2A37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District</c:v>
                </c:pt>
              </c:strCache>
            </c:strRef>
          </c:tx>
          <c:spPr>
            <a:solidFill>
              <a:srgbClr val="33506E"/>
            </a:solidFill>
            <a:ln w="31750" cap="flat">
              <a:solidFill>
                <a:srgbClr val="33506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3506E"/>
              </a:solidFill>
              <a:ln w="9525" cap="flat">
                <a:solidFill>
                  <a:srgbClr val="33506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'21-22</c:v>
                  </c:pt>
                  <c:pt idx="1">
                    <c:v>'22-23</c:v>
                  </c:pt>
                  <c:pt idx="2">
                    <c:v>'23-24</c:v>
                  </c:pt>
                  <c:pt idx="3">
                    <c:v>'24-25</c:v>
                  </c:pt>
                  <c:pt idx="4">
                    <c:v>'25-26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3525</c:v>
                </c:pt>
                <c:pt idx="1">
                  <c:v>3649</c:v>
                </c:pt>
                <c:pt idx="2">
                  <c:v>3629</c:v>
                </c:pt>
                <c:pt idx="3">
                  <c:v>3644</c:v>
                </c:pt>
                <c:pt idx="4">
                  <c:v>3330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Charter</c:v>
                </c:pt>
              </c:strCache>
            </c:strRef>
          </c:tx>
          <c:spPr>
            <a:solidFill>
              <a:srgbClr val="E07A1E"/>
            </a:solidFill>
            <a:ln w="31750" cap="flat">
              <a:solidFill>
                <a:srgbClr val="E07A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07A1E"/>
              </a:solidFill>
              <a:ln w="9525" cap="flat">
                <a:solidFill>
                  <a:srgbClr val="E07A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'21-22</c:v>
                  </c:pt>
                  <c:pt idx="1">
                    <c:v>'22-23</c:v>
                  </c:pt>
                  <c:pt idx="2">
                    <c:v>'23-24</c:v>
                  </c:pt>
                  <c:pt idx="3">
                    <c:v>'24-25</c:v>
                  </c:pt>
                  <c:pt idx="4">
                    <c:v>'25-26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2152</c:v>
                </c:pt>
                <c:pt idx="1">
                  <c:v>2295</c:v>
                </c:pt>
                <c:pt idx="2">
                  <c:v>2264</c:v>
                </c:pt>
                <c:pt idx="3">
                  <c:v>2341</c:v>
                </c:pt>
                <c:pt idx="4">
                  <c:v>2502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5B657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5B657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1F2A37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District</c:v>
                </c:pt>
              </c:strCache>
            </c:strRef>
          </c:tx>
          <c:spPr>
            <a:solidFill>
              <a:srgbClr val="33506E"/>
            </a:solidFill>
            <a:ln w="31750" cap="flat">
              <a:solidFill>
                <a:srgbClr val="33506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3506E"/>
              </a:solidFill>
              <a:ln w="9525" cap="flat">
                <a:solidFill>
                  <a:srgbClr val="33506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'21-22</c:v>
                  </c:pt>
                  <c:pt idx="1">
                    <c:v>'22-23</c:v>
                  </c:pt>
                  <c:pt idx="2">
                    <c:v>'23-24</c:v>
                  </c:pt>
                  <c:pt idx="3">
                    <c:v>'24-25</c:v>
                  </c:pt>
                  <c:pt idx="4">
                    <c:v>'25-26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8391</c:v>
                </c:pt>
                <c:pt idx="1">
                  <c:v>8330</c:v>
                </c:pt>
                <c:pt idx="2">
                  <c:v>8333</c:v>
                </c:pt>
                <c:pt idx="3">
                  <c:v>8217</c:v>
                </c:pt>
                <c:pt idx="4">
                  <c:v>8063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Charter</c:v>
                </c:pt>
              </c:strCache>
            </c:strRef>
          </c:tx>
          <c:spPr>
            <a:solidFill>
              <a:srgbClr val="E07A1E"/>
            </a:solidFill>
            <a:ln w="31750" cap="flat">
              <a:solidFill>
                <a:srgbClr val="E07A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07A1E"/>
              </a:solidFill>
              <a:ln w="9525" cap="flat">
                <a:solidFill>
                  <a:srgbClr val="E07A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'21-22</c:v>
                  </c:pt>
                  <c:pt idx="1">
                    <c:v>'22-23</c:v>
                  </c:pt>
                  <c:pt idx="2">
                    <c:v>'23-24</c:v>
                  </c:pt>
                  <c:pt idx="3">
                    <c:v>'24-25</c:v>
                  </c:pt>
                  <c:pt idx="4">
                    <c:v>'25-26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1861</c:v>
                </c:pt>
                <c:pt idx="1">
                  <c:v>1879</c:v>
                </c:pt>
                <c:pt idx="2">
                  <c:v>1980</c:v>
                </c:pt>
                <c:pt idx="3">
                  <c:v>2097</c:v>
                </c:pt>
                <c:pt idx="4">
                  <c:v>2032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5B657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5B657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1F2A37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4" Type="http://schemas.openxmlformats.org/officeDocument/2006/relationships/chart" Target="/ppt/charts/chart2.xml"/><Relationship Id="rId6" Type="http://schemas.openxmlformats.org/officeDocument/2006/relationships/chart" Target="/ppt/charts/chart3.xml"/><Relationship Id="rId1" Type="http://schemas.openxmlformats.org/officeDocument/2006/relationships/image" Target="../media/image-1-1.png"/><Relationship Id="rId3" Type="http://schemas.openxmlformats.org/officeDocument/2006/relationships/image" Target="../media/image-1-2.png"/><Relationship Id="rId5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Indicators by Geography — Drive-Time 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K-8 demand, the charter–district enrollment shift, and community profile around each anchor school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3538728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07008"/>
            <a:ext cx="3538728" cy="91440"/>
          </a:xfrm>
          <a:prstGeom prst="rect">
            <a:avLst/>
          </a:prstGeom>
          <a:solidFill>
            <a:srgbClr val="E07A1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98448"/>
            <a:ext cx="3538728" cy="859536"/>
          </a:xfrm>
          <a:prstGeom prst="rect">
            <a:avLst/>
          </a:prstGeom>
          <a:solidFill>
            <a:srgbClr val="002D5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44752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389888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Liberty City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960120" y="1700784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Miami-Dade  ·  District 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1920240"/>
            <a:ext cx="3227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Anchor: Poinciana Park Elementary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40080" y="2249424"/>
            <a:ext cx="3227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K-8 STUDENTS  ·  WITHIN 5-MIN DRIVE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21792" y="2414016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9,068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640080" y="2926080"/>
            <a:ext cx="3227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K-8 ENROLLMENT  ·  WITHIN 10-MIN DRIVE</a:t>
            </a:r>
            <a:endParaRPr lang="en-US" sz="85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566928" y="3127248"/>
          <a:ext cx="3319272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 11"/>
          <p:cNvSpPr/>
          <p:nvPr/>
        </p:nvSpPr>
        <p:spPr>
          <a:xfrm>
            <a:off x="640080" y="4517136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i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K-8 −3.5%  ·  Charter +20.1%  ·  charter share 17% → 21%</a:t>
            </a:r>
            <a:endParaRPr lang="en-US" sz="880" dirty="0"/>
          </a:p>
        </p:txBody>
      </p:sp>
      <p:sp>
        <p:nvSpPr>
          <p:cNvPr id="16" name="Text 12"/>
          <p:cNvSpPr/>
          <p:nvPr/>
        </p:nvSpPr>
        <p:spPr>
          <a:xfrm>
            <a:off x="640080" y="4901184"/>
            <a:ext cx="3227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PROFILE  ·  WITHIN 5-MIN DRIVE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612648" y="5120640"/>
            <a:ext cx="984504" cy="676656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18" name="Text 14"/>
          <p:cNvSpPr/>
          <p:nvPr/>
        </p:nvSpPr>
        <p:spPr>
          <a:xfrm>
            <a:off x="612648" y="5193792"/>
            <a:ext cx="984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0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50.9%</a:t>
            </a:r>
            <a:endParaRPr lang="en-US" sz="1650" dirty="0"/>
          </a:p>
        </p:txBody>
      </p:sp>
      <p:sp>
        <p:nvSpPr>
          <p:cNvPr id="19" name="Text 15"/>
          <p:cNvSpPr/>
          <p:nvPr/>
        </p:nvSpPr>
        <p:spPr>
          <a:xfrm>
            <a:off x="612648" y="5532120"/>
            <a:ext cx="984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Black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1734312" y="5120640"/>
            <a:ext cx="984504" cy="676656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21" name="Text 17"/>
          <p:cNvSpPr/>
          <p:nvPr/>
        </p:nvSpPr>
        <p:spPr>
          <a:xfrm>
            <a:off x="1734312" y="5193792"/>
            <a:ext cx="984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0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48.5%</a:t>
            </a:r>
            <a:endParaRPr lang="en-US" sz="1650" dirty="0"/>
          </a:p>
        </p:txBody>
      </p:sp>
      <p:sp>
        <p:nvSpPr>
          <p:cNvPr id="22" name="Text 18"/>
          <p:cNvSpPr/>
          <p:nvPr/>
        </p:nvSpPr>
        <p:spPr>
          <a:xfrm>
            <a:off x="1734312" y="5532120"/>
            <a:ext cx="984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Hispanic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2855976" y="5120640"/>
            <a:ext cx="984504" cy="676656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24" name="Text 20"/>
          <p:cNvSpPr/>
          <p:nvPr/>
        </p:nvSpPr>
        <p:spPr>
          <a:xfrm>
            <a:off x="2855976" y="5193792"/>
            <a:ext cx="984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0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56.8%</a:t>
            </a:r>
            <a:endParaRPr lang="en-US" sz="1650" dirty="0"/>
          </a:p>
        </p:txBody>
      </p:sp>
      <p:sp>
        <p:nvSpPr>
          <p:cNvPr id="25" name="Text 21"/>
          <p:cNvSpPr/>
          <p:nvPr/>
        </p:nvSpPr>
        <p:spPr>
          <a:xfrm>
            <a:off x="2855976" y="5532120"/>
            <a:ext cx="984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HHI &lt; $50k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4311396" y="1207008"/>
            <a:ext cx="3538728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4311396" y="1207008"/>
            <a:ext cx="3538728" cy="91440"/>
          </a:xfrm>
          <a:prstGeom prst="rect">
            <a:avLst/>
          </a:prstGeom>
          <a:solidFill>
            <a:srgbClr val="E07A1E"/>
          </a:solidFill>
          <a:ln/>
        </p:spPr>
      </p:sp>
      <p:sp>
        <p:nvSpPr>
          <p:cNvPr id="28" name="Shape 24"/>
          <p:cNvSpPr/>
          <p:nvPr/>
        </p:nvSpPr>
        <p:spPr>
          <a:xfrm>
            <a:off x="4311396" y="1298448"/>
            <a:ext cx="3538728" cy="859536"/>
          </a:xfrm>
          <a:prstGeom prst="rect">
            <a:avLst/>
          </a:prstGeom>
          <a:solidFill>
            <a:srgbClr val="002D5B"/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4276" y="1444752"/>
            <a:ext cx="256032" cy="25603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4814316" y="1389888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Homestead</a:t>
            </a:r>
            <a:endParaRPr lang="en-US" sz="1650" dirty="0"/>
          </a:p>
        </p:txBody>
      </p:sp>
      <p:sp>
        <p:nvSpPr>
          <p:cNvPr id="31" name="Text 26"/>
          <p:cNvSpPr/>
          <p:nvPr/>
        </p:nvSpPr>
        <p:spPr>
          <a:xfrm>
            <a:off x="4814316" y="1700784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Miami-Dade  ·  District 9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4494276" y="1920240"/>
            <a:ext cx="3227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Anchor: Air Base K-8</a:t>
            </a:r>
            <a:endParaRPr lang="en-US" sz="950" dirty="0"/>
          </a:p>
        </p:txBody>
      </p:sp>
      <p:sp>
        <p:nvSpPr>
          <p:cNvPr id="33" name="Text 28"/>
          <p:cNvSpPr/>
          <p:nvPr/>
        </p:nvSpPr>
        <p:spPr>
          <a:xfrm>
            <a:off x="4494276" y="2249424"/>
            <a:ext cx="3227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K-8 STUDENTS  ·  WITHIN 5-MIN DRIVE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4475988" y="2414016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6,628</a:t>
            </a:r>
            <a:endParaRPr lang="en-US" sz="3000" dirty="0"/>
          </a:p>
        </p:txBody>
      </p:sp>
      <p:sp>
        <p:nvSpPr>
          <p:cNvPr id="35" name="Text 30"/>
          <p:cNvSpPr/>
          <p:nvPr/>
        </p:nvSpPr>
        <p:spPr>
          <a:xfrm>
            <a:off x="4494276" y="2926080"/>
            <a:ext cx="3227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K-8 ENROLLMENT  ·  WITHIN 10-MIN DRIVE</a:t>
            </a:r>
            <a:endParaRPr lang="en-US" sz="850" dirty="0"/>
          </a:p>
        </p:txBody>
      </p:sp>
      <p:graphicFrame>
        <p:nvGraphicFramePr>
          <p:cNvPr id="36" name="Chart 1" descr=""/>
          <p:cNvGraphicFramePr/>
          <p:nvPr/>
        </p:nvGraphicFramePr>
        <p:xfrm>
          <a:off x="4421124" y="3127248"/>
          <a:ext cx="3319272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7" name="Text 31"/>
          <p:cNvSpPr/>
          <p:nvPr/>
        </p:nvSpPr>
        <p:spPr>
          <a:xfrm>
            <a:off x="4494276" y="4517136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i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K-8 −5.5%  ·  Charter +16.3%  ·  charter share 38% → 43%</a:t>
            </a:r>
            <a:endParaRPr lang="en-US" sz="880" dirty="0"/>
          </a:p>
        </p:txBody>
      </p:sp>
      <p:sp>
        <p:nvSpPr>
          <p:cNvPr id="38" name="Text 32"/>
          <p:cNvSpPr/>
          <p:nvPr/>
        </p:nvSpPr>
        <p:spPr>
          <a:xfrm>
            <a:off x="4494276" y="4901184"/>
            <a:ext cx="3227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PROFILE  ·  WITHIN 5-MIN DRIVE</a:t>
            </a:r>
            <a:endParaRPr lang="en-US" sz="850" dirty="0"/>
          </a:p>
        </p:txBody>
      </p:sp>
      <p:sp>
        <p:nvSpPr>
          <p:cNvPr id="39" name="Shape 33"/>
          <p:cNvSpPr/>
          <p:nvPr/>
        </p:nvSpPr>
        <p:spPr>
          <a:xfrm>
            <a:off x="4466844" y="5120640"/>
            <a:ext cx="984504" cy="676656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40" name="Text 34"/>
          <p:cNvSpPr/>
          <p:nvPr/>
        </p:nvSpPr>
        <p:spPr>
          <a:xfrm>
            <a:off x="4466844" y="5193792"/>
            <a:ext cx="984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0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24.8%</a:t>
            </a:r>
            <a:endParaRPr lang="en-US" sz="1650" dirty="0"/>
          </a:p>
        </p:txBody>
      </p:sp>
      <p:sp>
        <p:nvSpPr>
          <p:cNvPr id="41" name="Text 35"/>
          <p:cNvSpPr/>
          <p:nvPr/>
        </p:nvSpPr>
        <p:spPr>
          <a:xfrm>
            <a:off x="4466844" y="5532120"/>
            <a:ext cx="984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Black</a:t>
            </a:r>
            <a:endParaRPr lang="en-US" sz="850" dirty="0"/>
          </a:p>
        </p:txBody>
      </p:sp>
      <p:sp>
        <p:nvSpPr>
          <p:cNvPr id="42" name="Shape 36"/>
          <p:cNvSpPr/>
          <p:nvPr/>
        </p:nvSpPr>
        <p:spPr>
          <a:xfrm>
            <a:off x="5588508" y="5120640"/>
            <a:ext cx="984504" cy="676656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43" name="Text 37"/>
          <p:cNvSpPr/>
          <p:nvPr/>
        </p:nvSpPr>
        <p:spPr>
          <a:xfrm>
            <a:off x="5588508" y="5193792"/>
            <a:ext cx="984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0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66.3%</a:t>
            </a:r>
            <a:endParaRPr lang="en-US" sz="1650" dirty="0"/>
          </a:p>
        </p:txBody>
      </p:sp>
      <p:sp>
        <p:nvSpPr>
          <p:cNvPr id="44" name="Text 38"/>
          <p:cNvSpPr/>
          <p:nvPr/>
        </p:nvSpPr>
        <p:spPr>
          <a:xfrm>
            <a:off x="5588508" y="5532120"/>
            <a:ext cx="984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Hispanic</a:t>
            </a:r>
            <a:endParaRPr lang="en-US" sz="850" dirty="0"/>
          </a:p>
        </p:txBody>
      </p:sp>
      <p:sp>
        <p:nvSpPr>
          <p:cNvPr id="45" name="Shape 39"/>
          <p:cNvSpPr/>
          <p:nvPr/>
        </p:nvSpPr>
        <p:spPr>
          <a:xfrm>
            <a:off x="6710172" y="5120640"/>
            <a:ext cx="984504" cy="676656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46" name="Text 40"/>
          <p:cNvSpPr/>
          <p:nvPr/>
        </p:nvSpPr>
        <p:spPr>
          <a:xfrm>
            <a:off x="6710172" y="5193792"/>
            <a:ext cx="984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0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37.1%</a:t>
            </a:r>
            <a:endParaRPr lang="en-US" sz="1650" dirty="0"/>
          </a:p>
        </p:txBody>
      </p:sp>
      <p:sp>
        <p:nvSpPr>
          <p:cNvPr id="47" name="Text 41"/>
          <p:cNvSpPr/>
          <p:nvPr/>
        </p:nvSpPr>
        <p:spPr>
          <a:xfrm>
            <a:off x="6710172" y="5532120"/>
            <a:ext cx="984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HHI &lt; $50k</a:t>
            </a:r>
            <a:endParaRPr lang="en-US" sz="850" dirty="0"/>
          </a:p>
        </p:txBody>
      </p:sp>
      <p:sp>
        <p:nvSpPr>
          <p:cNvPr id="48" name="Shape 42"/>
          <p:cNvSpPr/>
          <p:nvPr/>
        </p:nvSpPr>
        <p:spPr>
          <a:xfrm>
            <a:off x="8165592" y="1207008"/>
            <a:ext cx="3538728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49" name="Shape 43"/>
          <p:cNvSpPr/>
          <p:nvPr/>
        </p:nvSpPr>
        <p:spPr>
          <a:xfrm>
            <a:off x="8165592" y="1207008"/>
            <a:ext cx="3538728" cy="91440"/>
          </a:xfrm>
          <a:prstGeom prst="rect">
            <a:avLst/>
          </a:prstGeom>
          <a:solidFill>
            <a:srgbClr val="E07A1E"/>
          </a:solidFill>
          <a:ln/>
        </p:spPr>
      </p:sp>
      <p:sp>
        <p:nvSpPr>
          <p:cNvPr id="50" name="Shape 44"/>
          <p:cNvSpPr/>
          <p:nvPr/>
        </p:nvSpPr>
        <p:spPr>
          <a:xfrm>
            <a:off x="8165592" y="1298448"/>
            <a:ext cx="3538728" cy="859536"/>
          </a:xfrm>
          <a:prstGeom prst="rect">
            <a:avLst/>
          </a:prstGeom>
          <a:solidFill>
            <a:srgbClr val="002D5B"/>
          </a:solidFill>
          <a:ln/>
        </p:spPr>
      </p:sp>
      <p:pic>
        <p:nvPicPr>
          <p:cNvPr id="51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8472" y="1444752"/>
            <a:ext cx="256032" cy="256032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8668512" y="1389888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Lauderhill</a:t>
            </a:r>
            <a:endParaRPr lang="en-US" sz="1650" dirty="0"/>
          </a:p>
        </p:txBody>
      </p:sp>
      <p:sp>
        <p:nvSpPr>
          <p:cNvPr id="53" name="Text 46"/>
          <p:cNvSpPr/>
          <p:nvPr/>
        </p:nvSpPr>
        <p:spPr>
          <a:xfrm>
            <a:off x="8668512" y="1700784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Broward  ·  District 5</a:t>
            </a:r>
            <a:endParaRPr lang="en-US" sz="1000" dirty="0"/>
          </a:p>
        </p:txBody>
      </p:sp>
      <p:sp>
        <p:nvSpPr>
          <p:cNvPr id="54" name="Text 47"/>
          <p:cNvSpPr/>
          <p:nvPr/>
        </p:nvSpPr>
        <p:spPr>
          <a:xfrm>
            <a:off x="8348472" y="1920240"/>
            <a:ext cx="3227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Anchor: William Dandy Middle</a:t>
            </a:r>
            <a:endParaRPr lang="en-US" sz="950" dirty="0"/>
          </a:p>
        </p:txBody>
      </p:sp>
      <p:sp>
        <p:nvSpPr>
          <p:cNvPr id="55" name="Text 48"/>
          <p:cNvSpPr/>
          <p:nvPr/>
        </p:nvSpPr>
        <p:spPr>
          <a:xfrm>
            <a:off x="8348472" y="2249424"/>
            <a:ext cx="3227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K-8 STUDENTS  ·  WITHIN 5-MIN DRIVE</a:t>
            </a:r>
            <a:endParaRPr lang="en-US" sz="850" dirty="0"/>
          </a:p>
        </p:txBody>
      </p:sp>
      <p:sp>
        <p:nvSpPr>
          <p:cNvPr id="56" name="Text 49"/>
          <p:cNvSpPr/>
          <p:nvPr/>
        </p:nvSpPr>
        <p:spPr>
          <a:xfrm>
            <a:off x="8330184" y="2414016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9,627</a:t>
            </a:r>
            <a:endParaRPr lang="en-US" sz="3000" dirty="0"/>
          </a:p>
        </p:txBody>
      </p:sp>
      <p:sp>
        <p:nvSpPr>
          <p:cNvPr id="57" name="Text 50"/>
          <p:cNvSpPr/>
          <p:nvPr/>
        </p:nvSpPr>
        <p:spPr>
          <a:xfrm>
            <a:off x="8348472" y="2926080"/>
            <a:ext cx="3227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K-8 ENROLLMENT  ·  WITHIN 10-MIN DRIVE</a:t>
            </a:r>
            <a:endParaRPr lang="en-US" sz="850" dirty="0"/>
          </a:p>
        </p:txBody>
      </p:sp>
      <p:graphicFrame>
        <p:nvGraphicFramePr>
          <p:cNvPr id="58" name="Chart 2" descr=""/>
          <p:cNvGraphicFramePr/>
          <p:nvPr/>
        </p:nvGraphicFramePr>
        <p:xfrm>
          <a:off x="8275320" y="3127248"/>
          <a:ext cx="3319272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59" name="Text 51"/>
          <p:cNvSpPr/>
          <p:nvPr/>
        </p:nvSpPr>
        <p:spPr>
          <a:xfrm>
            <a:off x="8348472" y="4517136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i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K-8 −3.9%  ·  Charter +9.2%  ·  charter share 18% → 20%</a:t>
            </a:r>
            <a:endParaRPr lang="en-US" sz="880" dirty="0"/>
          </a:p>
        </p:txBody>
      </p:sp>
      <p:sp>
        <p:nvSpPr>
          <p:cNvPr id="60" name="Text 52"/>
          <p:cNvSpPr/>
          <p:nvPr/>
        </p:nvSpPr>
        <p:spPr>
          <a:xfrm>
            <a:off x="8348472" y="4901184"/>
            <a:ext cx="3227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PROFILE  ·  WITHIN 5-MIN DRIVE</a:t>
            </a:r>
            <a:endParaRPr lang="en-US" sz="850" dirty="0"/>
          </a:p>
        </p:txBody>
      </p:sp>
      <p:sp>
        <p:nvSpPr>
          <p:cNvPr id="61" name="Shape 53"/>
          <p:cNvSpPr/>
          <p:nvPr/>
        </p:nvSpPr>
        <p:spPr>
          <a:xfrm>
            <a:off x="8321040" y="5120640"/>
            <a:ext cx="984504" cy="676656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62" name="Text 54"/>
          <p:cNvSpPr/>
          <p:nvPr/>
        </p:nvSpPr>
        <p:spPr>
          <a:xfrm>
            <a:off x="8321040" y="5193792"/>
            <a:ext cx="984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0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71.7%</a:t>
            </a:r>
            <a:endParaRPr lang="en-US" sz="1650" dirty="0"/>
          </a:p>
        </p:txBody>
      </p:sp>
      <p:sp>
        <p:nvSpPr>
          <p:cNvPr id="63" name="Text 55"/>
          <p:cNvSpPr/>
          <p:nvPr/>
        </p:nvSpPr>
        <p:spPr>
          <a:xfrm>
            <a:off x="8321040" y="5532120"/>
            <a:ext cx="984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Black</a:t>
            </a:r>
            <a:endParaRPr lang="en-US" sz="850" dirty="0"/>
          </a:p>
        </p:txBody>
      </p:sp>
      <p:sp>
        <p:nvSpPr>
          <p:cNvPr id="64" name="Shape 56"/>
          <p:cNvSpPr/>
          <p:nvPr/>
        </p:nvSpPr>
        <p:spPr>
          <a:xfrm>
            <a:off x="9442704" y="5120640"/>
            <a:ext cx="984504" cy="676656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65" name="Text 57"/>
          <p:cNvSpPr/>
          <p:nvPr/>
        </p:nvSpPr>
        <p:spPr>
          <a:xfrm>
            <a:off x="9442704" y="5193792"/>
            <a:ext cx="984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0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10.8%</a:t>
            </a:r>
            <a:endParaRPr lang="en-US" sz="1650" dirty="0"/>
          </a:p>
        </p:txBody>
      </p:sp>
      <p:sp>
        <p:nvSpPr>
          <p:cNvPr id="66" name="Text 58"/>
          <p:cNvSpPr/>
          <p:nvPr/>
        </p:nvSpPr>
        <p:spPr>
          <a:xfrm>
            <a:off x="9442704" y="5532120"/>
            <a:ext cx="984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Hispanic</a:t>
            </a:r>
            <a:endParaRPr lang="en-US" sz="850" dirty="0"/>
          </a:p>
        </p:txBody>
      </p:sp>
      <p:sp>
        <p:nvSpPr>
          <p:cNvPr id="67" name="Shape 59"/>
          <p:cNvSpPr/>
          <p:nvPr/>
        </p:nvSpPr>
        <p:spPr>
          <a:xfrm>
            <a:off x="10564368" y="5120640"/>
            <a:ext cx="984504" cy="676656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68" name="Text 60"/>
          <p:cNvSpPr/>
          <p:nvPr/>
        </p:nvSpPr>
        <p:spPr>
          <a:xfrm>
            <a:off x="10564368" y="5193792"/>
            <a:ext cx="984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0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43.2%</a:t>
            </a:r>
            <a:endParaRPr lang="en-US" sz="1650" dirty="0"/>
          </a:p>
        </p:txBody>
      </p:sp>
      <p:sp>
        <p:nvSpPr>
          <p:cNvPr id="69" name="Text 61"/>
          <p:cNvSpPr/>
          <p:nvPr/>
        </p:nvSpPr>
        <p:spPr>
          <a:xfrm>
            <a:off x="10564368" y="5532120"/>
            <a:ext cx="984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HHI &lt; $50k</a:t>
            </a:r>
            <a:endParaRPr lang="en-US" sz="850" dirty="0"/>
          </a:p>
        </p:txBody>
      </p:sp>
      <p:sp>
        <p:nvSpPr>
          <p:cNvPr id="70" name="Text 62"/>
          <p:cNvSpPr/>
          <p:nvPr/>
        </p:nvSpPr>
        <p:spPr>
          <a:xfrm>
            <a:off x="457200" y="6364224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KIPP Demographics tool — drive-time rings (ESRI/ACS-based; 5-min ≈ 1.83 mi, 10-min ≈ 3.67 mi radius approximations, not road isochrones). Enrollment = K-8 students at currently active charter &amp; district schools within the 10-min ring (FL DOE; series begins 2021-22, so 2020-21 is not available). K-8 population is an ACS age-band estimate.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Demand Indicators by Geography - Drive-Time View</dc:title>
  <dc:subject>PptxGenJS Presentation</dc:subject>
  <dc:creator>KTAF</dc:creator>
  <cp:lastModifiedBy>KTAF</cp:lastModifiedBy>
  <cp:revision>1</cp:revision>
  <dcterms:created xsi:type="dcterms:W3CDTF">2026-06-16T02:57:45Z</dcterms:created>
  <dcterms:modified xsi:type="dcterms:W3CDTF">2026-06-16T02:57:45Z</dcterms:modified>
</cp:coreProperties>
</file>